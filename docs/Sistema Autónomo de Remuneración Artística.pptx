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70" r:id="rId9"/>
    <p:sldId id="267" r:id="rId10"/>
    <p:sldId id="268" r:id="rId11"/>
    <p:sldId id="269" r:id="rId12"/>
    <p:sldId id="262" r:id="rId13"/>
    <p:sldId id="264" r:id="rId14"/>
    <p:sldId id="265" r:id="rId15"/>
    <p:sldId id="266" r:id="rId16"/>
    <p:sldId id="263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3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1721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ACF7-6C7A-E5B2-A576-21286E14E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43A49-7670-0A44-D538-8AD9FBA95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A44167-688A-4EFB-CDB1-2258356F7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107D3-1B5C-A01C-4B93-323D151E7B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454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95C9F-8C2C-4611-CE13-BC1AE9F1A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0124FD-3F60-0B1B-765D-4754B7CA4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3D5E00-DF23-92AA-99F0-AB68E00DF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C702A-36F4-787B-93AC-6AB33FCE8F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52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EA929-2CE2-41AE-0262-2AFFDF385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C57E1-2B8A-7EF1-75F9-C310527FE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FCA93E-A2EA-BF16-5C0D-57E8BCA2C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A385D-66D1-386C-B287-B501062528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671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B92C4-E834-5FDE-5492-229D24A1B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5761BE-66B2-1234-1AD1-854B22C22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9CE615-8785-E605-A262-5BECC4FC5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CBCA1-2D38-DB4C-7E3C-87D381B02F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938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ECD3A-5811-ED83-D605-21C1FEECF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ED5398-040C-7E0F-8989-837AA7DCAE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BB7CC5-6926-A5C1-A49C-E153A0A32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C52CE-EE46-2320-1572-7D6E257046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712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B1986-2913-AF5B-EAC3-D9E24456D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8BF1F8-9AC8-1E34-C62F-2C9B50C89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789F5D-CDD2-5851-EEAC-1FDB534FD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BA12C-5CBB-7BAB-AAD7-13C90A4B93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305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E2998-3B8B-071A-E107-9FAE5B2C5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EAA9BF-FEC8-CCDC-F18A-F19140348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3F05A-3F76-4A88-B1B4-4D340BD69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D7A6E-8A57-47CC-A2F4-54E13C2DBC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928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4B5D9-C858-FE86-562A-55BDF7658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EF671-2930-0D14-ED58-31CEE3E3B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2ED2E7-65D3-774A-E144-A8F40441C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C14EB-53FF-935C-6073-FE9303179F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7905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6D2E46">
              <a:alpha val="60000"/>
            </a:srgbClr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10332720" y="3840480"/>
            <a:ext cx="3657600" cy="3657600"/>
          </a:xfrm>
          <a:prstGeom prst="ellipse">
            <a:avLst/>
          </a:prstGeom>
          <a:solidFill>
            <a:srgbClr val="C9A15A">
              <a:alpha val="22000"/>
            </a:srgbClr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2"/>
          <p:cNvSpPr/>
          <p:nvPr/>
        </p:nvSpPr>
        <p:spPr>
          <a:xfrm>
            <a:off x="731520" y="474044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58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S.A.R.A.</a:t>
            </a:r>
            <a:endParaRPr lang="es-CO" sz="5800" noProof="0" dirty="0"/>
          </a:p>
        </p:txBody>
      </p:sp>
      <p:sp>
        <p:nvSpPr>
          <p:cNvPr id="5" name="Text 3"/>
          <p:cNvSpPr/>
          <p:nvPr/>
        </p:nvSpPr>
        <p:spPr>
          <a:xfrm>
            <a:off x="868680" y="156407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21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Autónomo de Remuneración Artística</a:t>
            </a:r>
            <a:endParaRPr lang="es-CO" sz="21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2211404"/>
            <a:ext cx="502920" cy="36576"/>
          </a:xfrm>
          <a:prstGeom prst="rect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502933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noProof="0" dirty="0">
                <a:solidFill>
                  <a:srgbClr val="D8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liquidación y auditoría de nómina para artes escénicas — con IA local, arquitectura hexagonal y soberanía total de datos.</a:t>
            </a:r>
            <a:endParaRPr lang="es-CO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i="1" noProof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 ·  </a:t>
            </a:r>
            <a:r>
              <a:rPr lang="es-CO" sz="1200" i="1" noProof="0" dirty="0" err="1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r>
              <a:rPr lang="es-CO" sz="1200" i="1" noProof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1200" i="1" noProof="0" dirty="0" err="1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r>
              <a:rPr lang="es-CO" sz="1200" i="1" noProof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s-CO" sz="1200" i="1" noProof="0" dirty="0" err="1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s-CO" sz="1200" i="1" noProof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Ollama</a:t>
            </a:r>
            <a:endParaRPr lang="es-CO" sz="1200" noProof="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B199A964-FAAD-8D29-E604-01330193598F}"/>
              </a:ext>
            </a:extLst>
          </p:cNvPr>
          <p:cNvSpPr/>
          <p:nvPr/>
        </p:nvSpPr>
        <p:spPr>
          <a:xfrm>
            <a:off x="1280160" y="413436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CO" sz="21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del productor teatral</a:t>
            </a:r>
            <a:endParaRPr lang="es-CO" sz="30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ámbito tan artístico tan eufórico, lo ultimo que puede llegar a importar es la logística del mismo, dejando a un lado temas tan importantes como pago a las personas que hacen que todo sea posible.</a:t>
            </a:r>
            <a:endParaRPr lang="es-CO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AF6F3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031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manual y propenso a errores</a:t>
            </a:r>
            <a:endParaRPr lang="es-CO" sz="1400" noProof="0" dirty="0"/>
          </a:p>
        </p:txBody>
      </p:sp>
      <p:sp>
        <p:nvSpPr>
          <p:cNvPr id="7" name="Text 4"/>
          <p:cNvSpPr/>
          <p:nvPr/>
        </p:nvSpPr>
        <p:spPr>
          <a:xfrm>
            <a:off x="1417320" y="235000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Porcentajes de taquilla, garantías mínimas y pagos fijos calculados a mano, función por función.</a:t>
            </a:r>
            <a:endParaRPr lang="es-CO" sz="1100" noProof="0" dirty="0"/>
          </a:p>
        </p:txBody>
      </p:sp>
      <p:sp>
        <p:nvSpPr>
          <p:cNvPr id="8" name="Shape 5"/>
          <p:cNvSpPr/>
          <p:nvPr/>
        </p:nvSpPr>
        <p:spPr>
          <a:xfrm>
            <a:off x="6035040" y="187452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AF6F3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0312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1228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Retenciones inconsistentes</a:t>
            </a:r>
            <a:endParaRPr lang="es-CO" sz="1400" noProof="0" dirty="0"/>
          </a:p>
        </p:txBody>
      </p:sp>
      <p:sp>
        <p:nvSpPr>
          <p:cNvPr id="11" name="Text 7"/>
          <p:cNvSpPr/>
          <p:nvPr/>
        </p:nvSpPr>
        <p:spPr>
          <a:xfrm>
            <a:off x="6812280" y="235000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la normativa tributaria colombiana vigente (</a:t>
            </a:r>
            <a:r>
              <a:rPr lang="es-CO" sz="11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ReteFuente</a:t>
            </a: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de forma manual genera errores costosos.</a:t>
            </a:r>
            <a:endParaRPr lang="es-CO" sz="1100" noProof="0" dirty="0"/>
          </a:p>
        </p:txBody>
      </p:sp>
      <p:sp>
        <p:nvSpPr>
          <p:cNvPr id="12" name="Shape 8"/>
          <p:cNvSpPr/>
          <p:nvPr/>
        </p:nvSpPr>
        <p:spPr>
          <a:xfrm>
            <a:off x="640080" y="324612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AF6F3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7472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383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trazabilidad ante reclamos</a:t>
            </a:r>
            <a:endParaRPr lang="es-CO" sz="1400" noProof="0" dirty="0"/>
          </a:p>
        </p:txBody>
      </p:sp>
      <p:sp>
        <p:nvSpPr>
          <p:cNvPr id="15" name="Text 10"/>
          <p:cNvSpPr/>
          <p:nvPr/>
        </p:nvSpPr>
        <p:spPr>
          <a:xfrm>
            <a:off x="1417320" y="372160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mi pago fue menor este mes? Sin auditoría clara, cada reclamo consume horas del equipo.</a:t>
            </a:r>
            <a:endParaRPr lang="es-CO" sz="1100" noProof="0" dirty="0"/>
          </a:p>
        </p:txBody>
      </p:sp>
      <p:sp>
        <p:nvSpPr>
          <p:cNvPr id="16" name="Shape 11"/>
          <p:cNvSpPr/>
          <p:nvPr/>
        </p:nvSpPr>
        <p:spPr>
          <a:xfrm>
            <a:off x="6035040" y="324612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AF6F3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47472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12280" y="3383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sensibles en la nube</a:t>
            </a:r>
            <a:endParaRPr lang="es-CO" sz="1400" noProof="0" dirty="0"/>
          </a:p>
        </p:txBody>
      </p:sp>
      <p:sp>
        <p:nvSpPr>
          <p:cNvPr id="19" name="Text 13"/>
          <p:cNvSpPr/>
          <p:nvPr/>
        </p:nvSpPr>
        <p:spPr>
          <a:xfrm>
            <a:off x="6812280" y="372160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e identificaciones de artistas viajando a hojas de cálculo compartidas o SaaS externos.</a:t>
            </a:r>
            <a:endParaRPr lang="es-CO" sz="11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28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solución: gestión inteligente y privada</a:t>
            </a:r>
            <a:endParaRPr lang="es-CO" sz="28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el flujo financiero del teatro desde la firma del contrato hasta la transferencia bancaria — todo dentro de sus propios servidores.</a:t>
            </a:r>
            <a:endParaRPr lang="es-CO" sz="1300" noProof="0" dirty="0"/>
          </a:p>
        </p:txBody>
      </p:sp>
      <p:sp>
        <p:nvSpPr>
          <p:cNvPr id="4" name="Shape 2"/>
          <p:cNvSpPr/>
          <p:nvPr/>
        </p:nvSpPr>
        <p:spPr>
          <a:xfrm>
            <a:off x="2346960" y="203454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5" name="Shape 3"/>
          <p:cNvSpPr/>
          <p:nvPr/>
        </p:nvSpPr>
        <p:spPr>
          <a:xfrm>
            <a:off x="3649980" y="2400300"/>
            <a:ext cx="822960" cy="82296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004" y="25923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21280" y="34518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5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automática de contratos</a:t>
            </a:r>
            <a:endParaRPr lang="es-CO" sz="1500" noProof="0" dirty="0"/>
          </a:p>
        </p:txBody>
      </p:sp>
      <p:sp>
        <p:nvSpPr>
          <p:cNvPr id="8" name="Text 5"/>
          <p:cNvSpPr/>
          <p:nvPr/>
        </p:nvSpPr>
        <p:spPr>
          <a:xfrm>
            <a:off x="2621280" y="41833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5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local comprende cláusulas de pago fijo, porcentaje o garantía mínima y configura las reglas financieras al instante.</a:t>
            </a:r>
            <a:endParaRPr lang="es-CO" sz="1150" noProof="0" dirty="0"/>
          </a:p>
        </p:txBody>
      </p:sp>
      <p:sp>
        <p:nvSpPr>
          <p:cNvPr id="9" name="Shape 6"/>
          <p:cNvSpPr/>
          <p:nvPr/>
        </p:nvSpPr>
        <p:spPr>
          <a:xfrm>
            <a:off x="6096000" y="2034540"/>
            <a:ext cx="3429000" cy="41605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Shape 7"/>
          <p:cNvSpPr/>
          <p:nvPr/>
        </p:nvSpPr>
        <p:spPr>
          <a:xfrm>
            <a:off x="7399020" y="2400300"/>
            <a:ext cx="822960" cy="822960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1044" y="259232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70320" y="34518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5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taquilla en segundos</a:t>
            </a:r>
            <a:endParaRPr lang="es-CO" sz="1500" noProof="0" dirty="0"/>
          </a:p>
        </p:txBody>
      </p:sp>
      <p:sp>
        <p:nvSpPr>
          <p:cNvPr id="13" name="Text 9"/>
          <p:cNvSpPr/>
          <p:nvPr/>
        </p:nvSpPr>
        <p:spPr>
          <a:xfrm>
            <a:off x="6370320" y="41833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5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el reporte de tiquetería (</a:t>
            </a:r>
            <a:r>
              <a:rPr lang="es-CO" sz="115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Tuboleta</a:t>
            </a:r>
            <a:r>
              <a:rPr lang="es-CO" sz="115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CO" sz="115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eTicket</a:t>
            </a:r>
            <a:r>
              <a:rPr lang="es-CO" sz="115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y el sistema calcula el neto, aplica retenciones y liquida por artista.</a:t>
            </a:r>
            <a:endParaRPr lang="es-CO" sz="115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28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hexagonal (</a:t>
            </a:r>
            <a:r>
              <a:rPr lang="es-CO" sz="2800" b="1" noProof="0" dirty="0" err="1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r>
              <a:rPr lang="es-CO" sz="28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s-CO" sz="2800" b="1" noProof="0" dirty="0" err="1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r>
              <a:rPr lang="es-CO" sz="28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s-CO" sz="28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dominio no depende de nada externo. La infraestructura implementa los puertos con adaptadores concretos.</a:t>
            </a:r>
            <a:endParaRPr lang="es-CO" sz="1300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2011680"/>
            <a:ext cx="5852160" cy="3931920"/>
          </a:xfrm>
          <a:prstGeom prst="roundRect">
            <a:avLst>
              <a:gd name="adj" fmla="val 3488"/>
            </a:avLst>
          </a:prstGeom>
          <a:solidFill>
            <a:srgbClr val="F3E9E1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5" name="Shape 3"/>
          <p:cNvSpPr/>
          <p:nvPr/>
        </p:nvSpPr>
        <p:spPr>
          <a:xfrm>
            <a:off x="1188720" y="2560320"/>
            <a:ext cx="4206240" cy="2834640"/>
          </a:xfrm>
          <a:prstGeom prst="roundRect">
            <a:avLst>
              <a:gd name="adj" fmla="val 4839"/>
            </a:avLst>
          </a:prstGeom>
          <a:solidFill>
            <a:srgbClr val="E2C9CE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6" name="Shape 4"/>
          <p:cNvSpPr/>
          <p:nvPr/>
        </p:nvSpPr>
        <p:spPr>
          <a:xfrm>
            <a:off x="2011680" y="3108960"/>
            <a:ext cx="2560320" cy="1737360"/>
          </a:xfrm>
          <a:prstGeom prst="roundRect">
            <a:avLst>
              <a:gd name="adj" fmla="val 789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7" name="Text 5"/>
          <p:cNvSpPr/>
          <p:nvPr/>
        </p:nvSpPr>
        <p:spPr>
          <a:xfrm>
            <a:off x="2011680" y="3685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s-CO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2011680" y="3959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900" noProof="0" dirty="0">
                <a:solidFill>
                  <a:srgbClr val="F3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y reglas</a:t>
            </a:r>
            <a:endParaRPr lang="es-CO" sz="900" noProof="0" dirty="0"/>
          </a:p>
        </p:txBody>
      </p:sp>
      <p:sp>
        <p:nvSpPr>
          <p:cNvPr id="9" name="Text 7"/>
          <p:cNvSpPr/>
          <p:nvPr/>
        </p:nvSpPr>
        <p:spPr>
          <a:xfrm>
            <a:off x="1188720" y="28529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44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— Puertos</a:t>
            </a:r>
            <a:endParaRPr lang="es-CO" sz="1100" noProof="0" dirty="0"/>
          </a:p>
        </p:txBody>
      </p:sp>
      <p:sp>
        <p:nvSpPr>
          <p:cNvPr id="10" name="Text 8"/>
          <p:cNvSpPr/>
          <p:nvPr/>
        </p:nvSpPr>
        <p:spPr>
          <a:xfrm>
            <a:off x="365760" y="23042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44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— Adaptadores (</a:t>
            </a:r>
            <a:r>
              <a:rPr lang="es-CO" sz="1100" b="1" noProof="0" dirty="0" err="1">
                <a:solidFill>
                  <a:srgbClr val="44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s-CO" sz="1100" b="1" noProof="0" dirty="0">
                <a:solidFill>
                  <a:srgbClr val="44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Ollama · PDF)</a:t>
            </a:r>
            <a:endParaRPr lang="es-CO" sz="1100" noProof="0" dirty="0"/>
          </a:p>
        </p:txBody>
      </p:sp>
      <p:sp>
        <p:nvSpPr>
          <p:cNvPr id="11" name="Text 9"/>
          <p:cNvSpPr/>
          <p:nvPr/>
        </p:nvSpPr>
        <p:spPr>
          <a:xfrm>
            <a:off x="7406640" y="16530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datos</a:t>
            </a:r>
            <a:endParaRPr lang="es-CO" sz="1500" noProof="0" dirty="0"/>
          </a:p>
        </p:txBody>
      </p:sp>
      <p:sp>
        <p:nvSpPr>
          <p:cNvPr id="12" name="Shape 10"/>
          <p:cNvSpPr/>
          <p:nvPr/>
        </p:nvSpPr>
        <p:spPr>
          <a:xfrm>
            <a:off x="7406640" y="2156016"/>
            <a:ext cx="128016" cy="128016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Text 11"/>
          <p:cNvSpPr/>
          <p:nvPr/>
        </p:nvSpPr>
        <p:spPr>
          <a:xfrm>
            <a:off x="7680960" y="20371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Usuario sube PDF</a:t>
            </a:r>
            <a:endParaRPr lang="es-CO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7406640" y="2640648"/>
            <a:ext cx="128016" cy="128016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5" name="Text 13"/>
          <p:cNvSpPr/>
          <p:nvPr/>
        </p:nvSpPr>
        <p:spPr>
          <a:xfrm>
            <a:off x="7680960" y="25217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s-CO" sz="1100" noProof="0" dirty="0" err="1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PDFTextExtractor</a:t>
            </a:r>
            <a:r>
              <a:rPr lang="es-CO" sz="1100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extrae el texto (</a:t>
            </a:r>
            <a:r>
              <a:rPr lang="es-CO" sz="1100" noProof="0" dirty="0" err="1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r>
              <a:rPr lang="es-CO" sz="1100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CO" sz="1100" noProof="0" dirty="0"/>
          </a:p>
        </p:txBody>
      </p:sp>
      <p:sp>
        <p:nvSpPr>
          <p:cNvPr id="16" name="Shape 14"/>
          <p:cNvSpPr/>
          <p:nvPr/>
        </p:nvSpPr>
        <p:spPr>
          <a:xfrm>
            <a:off x="7406640" y="3125280"/>
            <a:ext cx="128016" cy="128016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Text 15"/>
          <p:cNvSpPr/>
          <p:nvPr/>
        </p:nvSpPr>
        <p:spPr>
          <a:xfrm>
            <a:off x="7680960" y="30064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s-CO" sz="1100" noProof="0" dirty="0" err="1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OllamaExtractor</a:t>
            </a:r>
            <a:r>
              <a:rPr lang="es-CO" sz="1100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infiere reglas del contrato</a:t>
            </a:r>
            <a:endParaRPr lang="es-CO" sz="1100" noProof="0" dirty="0"/>
          </a:p>
        </p:txBody>
      </p:sp>
      <p:sp>
        <p:nvSpPr>
          <p:cNvPr id="18" name="Shape 16"/>
          <p:cNvSpPr/>
          <p:nvPr/>
        </p:nvSpPr>
        <p:spPr>
          <a:xfrm>
            <a:off x="7406640" y="3609912"/>
            <a:ext cx="128016" cy="128016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9" name="Text 17"/>
          <p:cNvSpPr/>
          <p:nvPr/>
        </p:nvSpPr>
        <p:spPr>
          <a:xfrm>
            <a:off x="7680960" y="3491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s-CO" sz="1100" noProof="0" dirty="0" err="1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PayrollCalculator</a:t>
            </a:r>
            <a:r>
              <a:rPr lang="es-CO" sz="1100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calcula bruto / retención / neto</a:t>
            </a:r>
            <a:endParaRPr lang="es-CO" sz="1100" noProof="0" dirty="0"/>
          </a:p>
        </p:txBody>
      </p:sp>
      <p:sp>
        <p:nvSpPr>
          <p:cNvPr id="20" name="Shape 18"/>
          <p:cNvSpPr/>
          <p:nvPr/>
        </p:nvSpPr>
        <p:spPr>
          <a:xfrm>
            <a:off x="7406640" y="4094544"/>
            <a:ext cx="128016" cy="128016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21" name="Text 19"/>
          <p:cNvSpPr/>
          <p:nvPr/>
        </p:nvSpPr>
        <p:spPr>
          <a:xfrm>
            <a:off x="7680960" y="39756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s-CO" sz="1100" noProof="0" dirty="0" err="1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InMemoryRepository</a:t>
            </a:r>
            <a:r>
              <a:rPr lang="es-CO" sz="1100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guarda el resultado</a:t>
            </a:r>
            <a:endParaRPr lang="es-CO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7406640" y="4579176"/>
            <a:ext cx="128016" cy="128016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23" name="Text 21"/>
          <p:cNvSpPr/>
          <p:nvPr/>
        </p:nvSpPr>
        <p:spPr>
          <a:xfrm>
            <a:off x="7680960" y="44603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Respuesta JSON al cliente</a:t>
            </a:r>
            <a:endParaRPr lang="es-CO" sz="11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5506F-59B3-B87F-F693-88D8FCC8E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215860F-C746-4A00-CB2A-C469A7871E01}"/>
              </a:ext>
            </a:extLst>
          </p:cNvPr>
          <p:cNvSpPr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8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Factory </a:t>
            </a:r>
            <a:r>
              <a:rPr lang="es-MX" sz="2800" b="1" noProof="0" dirty="0" err="1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</a:t>
            </a:r>
            <a:r>
              <a:rPr lang="es-MX" sz="28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Inyección de Dependencias</a:t>
            </a:r>
            <a:endParaRPr lang="es-CO" sz="28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478C48-0B40-B311-454B-DA3A86A2C992}"/>
              </a:ext>
            </a:extLst>
          </p:cNvPr>
          <p:cNvSpPr/>
          <p:nvPr/>
        </p:nvSpPr>
        <p:spPr>
          <a:xfrm>
            <a:off x="640080" y="10058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300" noProof="0" dirty="0"/>
              <a:t>El factory.py ensambla las piezas concretas (adaptadores) y las inyecta en el dominio, sin que la lógica de negocio conozca los detalles de implementación.</a:t>
            </a:r>
            <a:endParaRPr lang="es-CO" sz="13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C901075-108A-4CAA-C336-3E4133E446D8}"/>
              </a:ext>
            </a:extLst>
          </p:cNvPr>
          <p:cNvSpPr/>
          <p:nvPr/>
        </p:nvSpPr>
        <p:spPr>
          <a:xfrm>
            <a:off x="365760" y="2011680"/>
            <a:ext cx="5852160" cy="2189930"/>
          </a:xfrm>
          <a:prstGeom prst="roundRect">
            <a:avLst>
              <a:gd name="adj" fmla="val 3488"/>
            </a:avLst>
          </a:prstGeom>
          <a:solidFill>
            <a:srgbClr val="F3E9E1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9E11C66-E701-B4F8-CB21-5BDA647E6F37}"/>
              </a:ext>
            </a:extLst>
          </p:cNvPr>
          <p:cNvSpPr txBox="1"/>
          <p:nvPr/>
        </p:nvSpPr>
        <p:spPr>
          <a:xfrm>
            <a:off x="6736659" y="1618024"/>
            <a:ext cx="521998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CO" dirty="0">
                <a:latin typeface="Cambria" panose="02040503050406030204" pitchFamily="18" charset="0"/>
                <a:ea typeface="Cambria" panose="02040503050406030204" pitchFamily="18" charset="0"/>
              </a:rPr>
              <a:t>Construye el extractor de IA (</a:t>
            </a:r>
            <a:r>
              <a:rPr lang="es-CO" dirty="0" err="1">
                <a:latin typeface="Cambria" panose="02040503050406030204" pitchFamily="18" charset="0"/>
                <a:ea typeface="Cambria" panose="02040503050406030204" pitchFamily="18" charset="0"/>
              </a:rPr>
              <a:t>OllamaExtractor</a:t>
            </a:r>
            <a:r>
              <a:rPr lang="es-CO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es-CO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CO" dirty="0">
                <a:latin typeface="Cambria" panose="02040503050406030204" pitchFamily="18" charset="0"/>
                <a:ea typeface="Cambria" panose="02040503050406030204" pitchFamily="18" charset="0"/>
              </a:rPr>
              <a:t>Construye el repositorio (</a:t>
            </a:r>
            <a:r>
              <a:rPr lang="es-CO" dirty="0" err="1">
                <a:latin typeface="Cambria" panose="02040503050406030204" pitchFamily="18" charset="0"/>
                <a:ea typeface="Cambria" panose="02040503050406030204" pitchFamily="18" charset="0"/>
              </a:rPr>
              <a:t>InMemoryRepository</a:t>
            </a:r>
            <a:r>
              <a:rPr lang="es-CO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es-CO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CO" dirty="0">
                <a:latin typeface="Cambria" panose="02040503050406030204" pitchFamily="18" charset="0"/>
                <a:ea typeface="Cambria" panose="02040503050406030204" pitchFamily="18" charset="0"/>
              </a:rPr>
              <a:t>Inyecta la tasa de retención desde </a:t>
            </a:r>
            <a:r>
              <a:rPr lang="es-CO" dirty="0" err="1">
                <a:latin typeface="Cambria" panose="02040503050406030204" pitchFamily="18" charset="0"/>
                <a:ea typeface="Cambria" panose="02040503050406030204" pitchFamily="18" charset="0"/>
              </a:rPr>
              <a:t>settings</a:t>
            </a:r>
            <a:r>
              <a:rPr lang="es-CO" dirty="0">
                <a:latin typeface="Cambria" panose="02040503050406030204" pitchFamily="18" charset="0"/>
                <a:ea typeface="Cambria" panose="02040503050406030204" pitchFamily="18" charset="0"/>
              </a:rPr>
              <a:t> (configuración centralizada)</a:t>
            </a:r>
          </a:p>
          <a:p>
            <a:pPr>
              <a:buFont typeface="Arial" panose="020B0604020202020204" pitchFamily="34" charset="0"/>
              <a:buChar char="•"/>
            </a:pPr>
            <a:endParaRPr lang="es-CO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CO" dirty="0">
                <a:latin typeface="Cambria" panose="02040503050406030204" pitchFamily="18" charset="0"/>
                <a:ea typeface="Cambria" panose="02040503050406030204" pitchFamily="18" charset="0"/>
              </a:rPr>
              <a:t>Devuelve un </a:t>
            </a:r>
            <a:r>
              <a:rPr lang="es-CO" dirty="0" err="1">
                <a:latin typeface="Cambria" panose="02040503050406030204" pitchFamily="18" charset="0"/>
                <a:ea typeface="Cambria" panose="02040503050406030204" pitchFamily="18" charset="0"/>
              </a:rPr>
              <a:t>PayrollCalculator</a:t>
            </a:r>
            <a:r>
              <a:rPr lang="es-CO" dirty="0">
                <a:latin typeface="Cambria" panose="02040503050406030204" pitchFamily="18" charset="0"/>
                <a:ea typeface="Cambria" panose="02040503050406030204" pitchFamily="18" charset="0"/>
              </a:rPr>
              <a:t> completamente ensamblado y listo para usa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B323D25-7CF3-3D93-47AC-E18B247F7DD8}"/>
              </a:ext>
            </a:extLst>
          </p:cNvPr>
          <p:cNvSpPr txBox="1"/>
          <p:nvPr/>
        </p:nvSpPr>
        <p:spPr>
          <a:xfrm>
            <a:off x="559636" y="5528994"/>
            <a:ext cx="113165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bg1">
                    <a:lumMod val="65000"/>
                  </a:schemeClr>
                </a:solidFill>
              </a:rPr>
              <a:t>Beneficio clave (para el pie de la diapositiva o </a:t>
            </a:r>
            <a:r>
              <a:rPr lang="es-MX" dirty="0" err="1">
                <a:solidFill>
                  <a:schemeClr val="bg1">
                    <a:lumMod val="65000"/>
                  </a:schemeClr>
                </a:solidFill>
              </a:rPr>
              <a:t>callout</a:t>
            </a:r>
            <a:r>
              <a:rPr lang="es-MX" dirty="0">
                <a:solidFill>
                  <a:schemeClr val="bg1">
                    <a:lumMod val="65000"/>
                  </a:schemeClr>
                </a:solidFill>
              </a:rPr>
              <a:t>):Cambiar de Ollama a otro motor de IA, o de memoria a PostgreSQL, solo requiere modificar el </a:t>
            </a:r>
            <a:r>
              <a:rPr lang="es-MX" dirty="0" err="1">
                <a:solidFill>
                  <a:schemeClr val="bg1">
                    <a:lumMod val="65000"/>
                  </a:schemeClr>
                </a:solidFill>
              </a:rPr>
              <a:t>factory</a:t>
            </a:r>
            <a:r>
              <a:rPr lang="es-MX" dirty="0">
                <a:solidFill>
                  <a:schemeClr val="bg1">
                    <a:lumMod val="65000"/>
                  </a:schemeClr>
                </a:solidFill>
              </a:rPr>
              <a:t> — el dominio y la lógica de negocio permanecen intactos.</a:t>
            </a:r>
            <a:endParaRPr lang="es-CO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7F9AD7DF-A64B-0D82-4EC1-B3D87FB43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96" y="2254990"/>
            <a:ext cx="4903884" cy="159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855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3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s-CO" sz="30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operacional cero: 100% open-</a:t>
            </a:r>
            <a:r>
              <a:rPr lang="es-CO" sz="1300" noProof="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r>
              <a:rPr lang="es-CO" sz="13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ejecutado </a:t>
            </a:r>
            <a:r>
              <a:rPr lang="es-CO" sz="1300" noProof="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r>
              <a:rPr lang="es-CO" sz="13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-premise.</a:t>
            </a:r>
            <a:endParaRPr lang="es-CO" sz="13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13055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5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s-CO" sz="1500" noProof="0" dirty="0"/>
          </a:p>
        </p:txBody>
      </p:sp>
      <p:sp>
        <p:nvSpPr>
          <p:cNvPr id="7" name="Text 4"/>
          <p:cNvSpPr/>
          <p:nvPr/>
        </p:nvSpPr>
        <p:spPr>
          <a:xfrm>
            <a:off x="896112" y="313639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s-CO" sz="12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Python 3.11</a:t>
            </a:r>
            <a:endParaRPr lang="es-CO" sz="1200" noProof="0" dirty="0"/>
          </a:p>
        </p:txBody>
      </p:sp>
      <p:sp>
        <p:nvSpPr>
          <p:cNvPr id="8" name="Shape 5"/>
          <p:cNvSpPr/>
          <p:nvPr/>
        </p:nvSpPr>
        <p:spPr>
          <a:xfrm>
            <a:off x="4434840" y="18745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13055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90872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Local</a:t>
            </a:r>
            <a:endParaRPr lang="es-CO" sz="1500" noProof="0" dirty="0"/>
          </a:p>
        </p:txBody>
      </p:sp>
      <p:sp>
        <p:nvSpPr>
          <p:cNvPr id="11" name="Text 7"/>
          <p:cNvSpPr/>
          <p:nvPr/>
        </p:nvSpPr>
        <p:spPr>
          <a:xfrm>
            <a:off x="4690872" y="313639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Llama 3.1 8B</a:t>
            </a:r>
            <a:endParaRPr lang="es-CO" sz="1200" noProof="0" dirty="0"/>
          </a:p>
        </p:txBody>
      </p:sp>
      <p:sp>
        <p:nvSpPr>
          <p:cNvPr id="12" name="Shape 8"/>
          <p:cNvSpPr/>
          <p:nvPr/>
        </p:nvSpPr>
        <p:spPr>
          <a:xfrm>
            <a:off x="8229600" y="18745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213055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85632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s-CO" sz="1500" noProof="0" dirty="0"/>
          </a:p>
        </p:txBody>
      </p:sp>
      <p:sp>
        <p:nvSpPr>
          <p:cNvPr id="15" name="Text 10"/>
          <p:cNvSpPr/>
          <p:nvPr/>
        </p:nvSpPr>
        <p:spPr>
          <a:xfrm>
            <a:off x="8485632" y="313639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(</a:t>
            </a:r>
            <a:r>
              <a:rPr lang="es-CO" sz="1200" noProof="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r>
              <a:rPr lang="es-CO" sz="12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1200" noProof="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r>
              <a:rPr lang="es-CO" sz="12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CO" sz="1200" noProof="0" dirty="0"/>
          </a:p>
        </p:txBody>
      </p:sp>
      <p:sp>
        <p:nvSpPr>
          <p:cNvPr id="16" name="Shape 11"/>
          <p:cNvSpPr/>
          <p:nvPr/>
        </p:nvSpPr>
        <p:spPr>
          <a:xfrm>
            <a:off x="640080" y="42062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446227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6112" y="5074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PDF</a:t>
            </a:r>
            <a:endParaRPr lang="es-CO" sz="1500" noProof="0" dirty="0"/>
          </a:p>
        </p:txBody>
      </p:sp>
      <p:sp>
        <p:nvSpPr>
          <p:cNvPr id="19" name="Text 13"/>
          <p:cNvSpPr/>
          <p:nvPr/>
        </p:nvSpPr>
        <p:spPr>
          <a:xfrm>
            <a:off x="896112" y="546811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endParaRPr lang="es-CO" sz="1200" noProof="0" dirty="0"/>
          </a:p>
        </p:txBody>
      </p:sp>
      <p:sp>
        <p:nvSpPr>
          <p:cNvPr id="20" name="Shape 14"/>
          <p:cNvSpPr/>
          <p:nvPr/>
        </p:nvSpPr>
        <p:spPr>
          <a:xfrm>
            <a:off x="4434840" y="42062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4462272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90872" y="5074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API</a:t>
            </a:r>
            <a:endParaRPr lang="es-CO" sz="1500" noProof="0" dirty="0"/>
          </a:p>
        </p:txBody>
      </p:sp>
      <p:sp>
        <p:nvSpPr>
          <p:cNvPr id="23" name="Text 16"/>
          <p:cNvSpPr/>
          <p:nvPr/>
        </p:nvSpPr>
        <p:spPr>
          <a:xfrm>
            <a:off x="4690872" y="546811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r>
              <a:rPr lang="es-CO" sz="12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Swagger + </a:t>
            </a:r>
            <a:r>
              <a:rPr lang="es-CO" sz="1200" noProof="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</a:t>
            </a:r>
            <a:endParaRPr lang="es-CO" sz="1200" noProof="0" dirty="0"/>
          </a:p>
        </p:txBody>
      </p:sp>
      <p:sp>
        <p:nvSpPr>
          <p:cNvPr id="24" name="Shape 17"/>
          <p:cNvSpPr/>
          <p:nvPr/>
        </p:nvSpPr>
        <p:spPr>
          <a:xfrm>
            <a:off x="8229600" y="42062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5632" y="4462272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485632" y="5074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fiscal</a:t>
            </a:r>
            <a:endParaRPr lang="es-CO" sz="1500" noProof="0" dirty="0"/>
          </a:p>
        </p:txBody>
      </p:sp>
      <p:sp>
        <p:nvSpPr>
          <p:cNvPr id="27" name="Text 19"/>
          <p:cNvSpPr/>
          <p:nvPr/>
        </p:nvSpPr>
        <p:spPr>
          <a:xfrm>
            <a:off x="8485632" y="546811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ReteFuente</a:t>
            </a:r>
            <a:r>
              <a:rPr lang="es-CO" sz="12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11% (normativa CO)</a:t>
            </a:r>
            <a:endParaRPr lang="es-CO" sz="12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2800" b="1" noProof="0" dirty="0" err="1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Endpoints</a:t>
            </a:r>
            <a:r>
              <a:rPr lang="es-CO" sz="28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Swagger UI: http://localhost:8000/docs</a:t>
            </a:r>
            <a:endParaRPr lang="es-CO" sz="28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documentada con 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(Swagger UI en /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/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CO" sz="1300" noProof="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4C04078B-D42E-4838-9433-C1712C06A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64075"/>
            <a:ext cx="10241280" cy="34595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277A7-122C-CA67-815C-32BCF7C66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9D5DC8-2890-319E-7A94-6A01C615CC04}"/>
              </a:ext>
            </a:extLst>
          </p:cNvPr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2800" b="1" noProof="0" dirty="0" err="1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Endpoints</a:t>
            </a:r>
            <a:r>
              <a:rPr lang="es-CO" sz="28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principales</a:t>
            </a:r>
            <a:endParaRPr lang="es-CO" sz="28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13A3F6-639C-A932-E6BE-2BB1588E5069}"/>
              </a:ext>
            </a:extLst>
          </p:cNvPr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documentada con 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(Swagger UI en /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/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CO" sz="1300" noProof="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9B818984-7B74-202A-031D-DE49E6A91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091705"/>
              </p:ext>
            </p:extLst>
          </p:nvPr>
        </p:nvGraphicFramePr>
        <p:xfrm>
          <a:off x="640080" y="1691640"/>
          <a:ext cx="10881360" cy="17373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</a:t>
                      </a:r>
                      <a:r>
                        <a:rPr lang="es-CO" sz="1250" noProof="0" dirty="0" err="1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</a:t>
                      </a: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r>
                        <a:rPr lang="es-CO" sz="1250" noProof="0" dirty="0" err="1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Liquidación de nómina desde texto plano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</a:t>
                      </a:r>
                      <a:r>
                        <a:rPr lang="es-CO" sz="1250" noProof="0" dirty="0" err="1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</a:t>
                      </a: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r>
                        <a:rPr lang="es-CO" sz="1250" noProof="0" dirty="0" err="1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calculate-from-pdf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Liquidación de nómina extrayendo datos directo del PDF del contrato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r>
                        <a:rPr lang="es-CO" sz="1250" noProof="0" dirty="0" err="1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</a:t>
                      </a:r>
                      <a:r>
                        <a:rPr lang="es-CO" sz="1250" noProof="0" dirty="0" err="1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del servicio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05C85132-7FA5-7E7F-CA27-E399DF0C4EDA}"/>
              </a:ext>
            </a:extLst>
          </p:cNvPr>
          <p:cNvSpPr/>
          <p:nvPr/>
        </p:nvSpPr>
        <p:spPr>
          <a:xfrm>
            <a:off x="64008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respuesta — /</a:t>
            </a:r>
            <a:r>
              <a:rPr lang="es-CO" sz="1400" b="1" noProof="0" dirty="0" err="1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calculate-from-pdf</a:t>
            </a:r>
            <a:endParaRPr lang="es-CO" sz="1400" noProof="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28F0CF0-FC4E-04EC-5AF2-9AD952AC286C}"/>
              </a:ext>
            </a:extLst>
          </p:cNvPr>
          <p:cNvSpPr/>
          <p:nvPr/>
        </p:nvSpPr>
        <p:spPr>
          <a:xfrm>
            <a:off x="640080" y="4160520"/>
            <a:ext cx="6492240" cy="2148840"/>
          </a:xfrm>
          <a:prstGeom prst="roundRect">
            <a:avLst>
              <a:gd name="adj" fmla="val 3404"/>
            </a:avLst>
          </a:prstGeom>
          <a:solidFill>
            <a:srgbClr val="231B1E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FCD017AC-808B-7224-A391-DD8A84A82FEE}"/>
              </a:ext>
            </a:extLst>
          </p:cNvPr>
          <p:cNvSpPr/>
          <p:nvPr/>
        </p:nvSpPr>
        <p:spPr>
          <a:xfrm>
            <a:off x="868680" y="4315968"/>
            <a:ext cx="6035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50" noProof="0" dirty="0">
                <a:solidFill>
                  <a:srgbClr val="9E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s-CO" sz="1150" noProof="0" dirty="0"/>
          </a:p>
          <a:p>
            <a:pPr marL="0" indent="0">
              <a:buNone/>
            </a:pPr>
            <a:r>
              <a:rPr lang="es-CO" sz="1150" noProof="0" dirty="0">
                <a:solidFill>
                  <a:srgbClr val="9E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"actor": "Carlos Pérez",</a:t>
            </a:r>
            <a:endParaRPr lang="es-CO" sz="1150" noProof="0" dirty="0"/>
          </a:p>
          <a:p>
            <a:pPr marL="0" indent="0">
              <a:buNone/>
            </a:pPr>
            <a:r>
              <a:rPr lang="es-CO" sz="1150" noProof="0" dirty="0">
                <a:solidFill>
                  <a:srgbClr val="9E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</a:t>
            </a:r>
            <a:r>
              <a:rPr lang="es-CO" sz="1150" noProof="0" dirty="0" err="1">
                <a:solidFill>
                  <a:srgbClr val="9E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gross</a:t>
            </a:r>
            <a:r>
              <a:rPr lang="es-CO" sz="1150" noProof="0" dirty="0">
                <a:solidFill>
                  <a:srgbClr val="9E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1500000.0,</a:t>
            </a:r>
            <a:endParaRPr lang="es-CO" sz="1150" noProof="0" dirty="0"/>
          </a:p>
          <a:p>
            <a:pPr marL="0" indent="0">
              <a:buNone/>
            </a:pPr>
            <a:r>
              <a:rPr lang="es-CO" sz="1150" noProof="0" dirty="0">
                <a:solidFill>
                  <a:srgbClr val="9E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</a:t>
            </a:r>
            <a:r>
              <a:rPr lang="es-CO" sz="1150" noProof="0" dirty="0" err="1">
                <a:solidFill>
                  <a:srgbClr val="9E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deductions</a:t>
            </a:r>
            <a:r>
              <a:rPr lang="es-CO" sz="1150" noProof="0" dirty="0">
                <a:solidFill>
                  <a:srgbClr val="9E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165000.0,</a:t>
            </a:r>
            <a:endParaRPr lang="es-CO" sz="1150" noProof="0" dirty="0"/>
          </a:p>
          <a:p>
            <a:pPr marL="0" indent="0">
              <a:buNone/>
            </a:pPr>
            <a:r>
              <a:rPr lang="es-CO" sz="1150" noProof="0" dirty="0">
                <a:solidFill>
                  <a:srgbClr val="9E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"net": 1335000.0,</a:t>
            </a:r>
            <a:endParaRPr lang="es-CO" sz="1150" noProof="0" dirty="0"/>
          </a:p>
          <a:p>
            <a:pPr marL="0" indent="0">
              <a:buNone/>
            </a:pPr>
            <a:r>
              <a:rPr lang="es-CO" sz="1150" noProof="0" dirty="0">
                <a:solidFill>
                  <a:srgbClr val="9E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"concept": "15.0% de taquilla (10,000,000 COP)"</a:t>
            </a:r>
            <a:endParaRPr lang="es-CO" sz="1150" noProof="0" dirty="0"/>
          </a:p>
          <a:p>
            <a:pPr marL="0" indent="0">
              <a:buNone/>
            </a:pPr>
            <a:r>
              <a:rPr lang="es-CO" sz="1150" noProof="0" dirty="0">
                <a:solidFill>
                  <a:srgbClr val="9E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s-CO" sz="1150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8DD7BC9-CDC0-264C-DCCE-AC08FE273739}"/>
              </a:ext>
            </a:extLst>
          </p:cNvPr>
          <p:cNvSpPr/>
          <p:nvPr/>
        </p:nvSpPr>
        <p:spPr>
          <a:xfrm>
            <a:off x="745236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</a:t>
            </a:r>
            <a:endParaRPr lang="es-CO" sz="1400" noProof="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4F413A0-5545-F1E8-B22E-554C70ACD27E}"/>
              </a:ext>
            </a:extLst>
          </p:cNvPr>
          <p:cNvSpPr/>
          <p:nvPr/>
        </p:nvSpPr>
        <p:spPr>
          <a:xfrm>
            <a:off x="7452360" y="420624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AF6F3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A03AE36-0EAC-4421-C962-221AC36E056D}"/>
              </a:ext>
            </a:extLst>
          </p:cNvPr>
          <p:cNvSpPr/>
          <p:nvPr/>
        </p:nvSpPr>
        <p:spPr>
          <a:xfrm>
            <a:off x="7635240" y="43159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000" b="1" noProof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s-CO" sz="2000" noProof="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207D478-203B-FDA4-1E1D-DDD4FA1BB9BC}"/>
              </a:ext>
            </a:extLst>
          </p:cNvPr>
          <p:cNvSpPr/>
          <p:nvPr/>
        </p:nvSpPr>
        <p:spPr>
          <a:xfrm>
            <a:off x="8503920" y="43434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no es PDF o no contiene texto legible.</a:t>
            </a:r>
            <a:endParaRPr lang="es-CO" sz="1100" noProof="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3BF9CBC-5D75-BC9E-BF14-ADCD45184724}"/>
              </a:ext>
            </a:extLst>
          </p:cNvPr>
          <p:cNvSpPr/>
          <p:nvPr/>
        </p:nvSpPr>
        <p:spPr>
          <a:xfrm>
            <a:off x="7452360" y="525780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AF6F3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F34F759-FD6F-7329-895A-FAE4BE57BF20}"/>
              </a:ext>
            </a:extLst>
          </p:cNvPr>
          <p:cNvSpPr/>
          <p:nvPr/>
        </p:nvSpPr>
        <p:spPr>
          <a:xfrm>
            <a:off x="7635240" y="536752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000" b="1" noProof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503</a:t>
            </a:r>
            <a:endParaRPr lang="es-CO" sz="2000" noProof="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EA43A37-8ED4-254C-34D6-F30D5681D36E}"/>
              </a:ext>
            </a:extLst>
          </p:cNvPr>
          <p:cNvSpPr/>
          <p:nvPr/>
        </p:nvSpPr>
        <p:spPr>
          <a:xfrm>
            <a:off x="8503920" y="53949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no está corriendo o el modelo no está disponible.</a:t>
            </a:r>
            <a:endParaRPr lang="es-CO" sz="1100" noProof="0" dirty="0"/>
          </a:p>
        </p:txBody>
      </p:sp>
    </p:spTree>
    <p:extLst>
      <p:ext uri="{BB962C8B-B14F-4D97-AF65-F5344CB8AC3E}">
        <p14:creationId xmlns:p14="http://schemas.microsoft.com/office/powerpoint/2010/main" val="1086309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86BE6-D54C-7AF2-6562-CAE1F770D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0AB6BE-6A4C-A51C-5289-2747297FDE9C}"/>
              </a:ext>
            </a:extLst>
          </p:cNvPr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28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de </a:t>
            </a:r>
            <a:r>
              <a:rPr lang="es-CO" sz="2800" b="1" noProof="0" dirty="0" err="1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endpoints</a:t>
            </a:r>
            <a:endParaRPr lang="es-CO" sz="28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9288B9-B425-1CE2-D348-48C59DAB768F}"/>
              </a:ext>
            </a:extLst>
          </p:cNvPr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documentada con 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(Swagger UI en /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/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CO" sz="1300" noProof="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FD4EA07B-1BD3-8666-965F-83BA4BF4EC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794821"/>
              </p:ext>
            </p:extLst>
          </p:nvPr>
        </p:nvGraphicFramePr>
        <p:xfrm>
          <a:off x="640080" y="1691640"/>
          <a:ext cx="10881360" cy="8686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r>
                        <a:rPr lang="es-CO" sz="1250" noProof="0" dirty="0" err="1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</a:t>
                      </a:r>
                      <a:r>
                        <a:rPr lang="es-CO" sz="1250" noProof="0" dirty="0" err="1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del servicio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C8263159-F072-FC0A-D8CC-30206C01868A}"/>
              </a:ext>
            </a:extLst>
          </p:cNvPr>
          <p:cNvSpPr/>
          <p:nvPr/>
        </p:nvSpPr>
        <p:spPr>
          <a:xfrm>
            <a:off x="640080" y="28642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respuesta — /</a:t>
            </a:r>
            <a:r>
              <a:rPr lang="es-CO" sz="1400" b="1" noProof="0" dirty="0" err="1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s-CO" sz="1400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CF1FBE3-4952-E32D-7D82-5D31341290DA}"/>
              </a:ext>
            </a:extLst>
          </p:cNvPr>
          <p:cNvSpPr/>
          <p:nvPr/>
        </p:nvSpPr>
        <p:spPr>
          <a:xfrm>
            <a:off x="6838902" y="3291477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</a:t>
            </a:r>
            <a:endParaRPr lang="es-CO" sz="1400" noProof="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8C68E2E-038D-1C0A-BA8C-DEC53EBC1A0A}"/>
              </a:ext>
            </a:extLst>
          </p:cNvPr>
          <p:cNvSpPr/>
          <p:nvPr/>
        </p:nvSpPr>
        <p:spPr>
          <a:xfrm>
            <a:off x="6701742" y="3759947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AF6F3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DEE7900-1879-C597-78A1-00638722F7E5}"/>
              </a:ext>
            </a:extLst>
          </p:cNvPr>
          <p:cNvSpPr/>
          <p:nvPr/>
        </p:nvSpPr>
        <p:spPr>
          <a:xfrm>
            <a:off x="7021782" y="3858405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000" b="1" noProof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10061</a:t>
            </a:r>
            <a:endParaRPr lang="es-CO" sz="2000" noProof="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D7F8573-9686-383A-B224-564EE18BC62C}"/>
              </a:ext>
            </a:extLst>
          </p:cNvPr>
          <p:cNvSpPr/>
          <p:nvPr/>
        </p:nvSpPr>
        <p:spPr>
          <a:xfrm>
            <a:off x="7890462" y="3885837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pudo establecer conexión....</a:t>
            </a:r>
            <a:endParaRPr lang="es-CO" sz="1100" noProof="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2F2AE0F-AA3D-50D9-A068-8581FEAAC4D0}"/>
              </a:ext>
            </a:extLst>
          </p:cNvPr>
          <p:cNvSpPr/>
          <p:nvPr/>
        </p:nvSpPr>
        <p:spPr>
          <a:xfrm>
            <a:off x="6838902" y="4800237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AF6F3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727CF60-DBDB-1DB2-7FF7-855F3D09A8FD}"/>
              </a:ext>
            </a:extLst>
          </p:cNvPr>
          <p:cNvSpPr/>
          <p:nvPr/>
        </p:nvSpPr>
        <p:spPr>
          <a:xfrm>
            <a:off x="7021782" y="4909965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000" b="1" noProof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503</a:t>
            </a:r>
            <a:endParaRPr lang="es-CO" sz="2000" noProof="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39728DD-2264-BA5E-6E96-F003AFEAE638}"/>
              </a:ext>
            </a:extLst>
          </p:cNvPr>
          <p:cNvSpPr/>
          <p:nvPr/>
        </p:nvSpPr>
        <p:spPr>
          <a:xfrm>
            <a:off x="7890462" y="4937397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no está corriendo o el modelo no está disponible.</a:t>
            </a:r>
            <a:endParaRPr lang="es-CO" sz="1100" noProof="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9F018FA9-8AFF-662F-700A-B80910769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174" y="3657237"/>
            <a:ext cx="4443547" cy="265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684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CD22C-7FF8-A2FE-B4B9-882CB4D48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13AA336-3E91-F70C-1BEA-08D170A7248E}"/>
              </a:ext>
            </a:extLst>
          </p:cNvPr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2800" b="1" noProof="0" dirty="0" err="1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Endpoints</a:t>
            </a:r>
            <a:r>
              <a:rPr lang="es-CO" sz="28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principales</a:t>
            </a:r>
            <a:endParaRPr lang="es-CO" sz="28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1A6843-C0FD-3A17-B9B9-B7F02DB7A400}"/>
              </a:ext>
            </a:extLst>
          </p:cNvPr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documentada con 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(Swagger UI en /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/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CO" sz="1300" noProof="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6F8C1F72-65EB-9A18-86AD-69E3AF2FB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38372"/>
              </p:ext>
            </p:extLst>
          </p:nvPr>
        </p:nvGraphicFramePr>
        <p:xfrm>
          <a:off x="640080" y="1691640"/>
          <a:ext cx="10881360" cy="8686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</a:t>
                      </a:r>
                      <a:r>
                        <a:rPr lang="es-CO" sz="1250" noProof="0" dirty="0" err="1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</a:t>
                      </a: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r>
                        <a:rPr lang="es-CO" sz="1250" noProof="0" dirty="0" err="1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Liquidación de nómina desde texto plano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FDB99BD4-D9AD-9C3B-C72A-73FBA523D3CD}"/>
              </a:ext>
            </a:extLst>
          </p:cNvPr>
          <p:cNvSpPr/>
          <p:nvPr/>
        </p:nvSpPr>
        <p:spPr>
          <a:xfrm>
            <a:off x="640080" y="2893003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respuesta — /</a:t>
            </a:r>
            <a:r>
              <a:rPr lang="es-CO" sz="1400" b="1" noProof="0" dirty="0" err="1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calculate-from</a:t>
            </a:r>
            <a:endParaRPr lang="es-CO" sz="1400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1FF0977-8DC7-36F6-697D-184156A06D0D}"/>
              </a:ext>
            </a:extLst>
          </p:cNvPr>
          <p:cNvSpPr/>
          <p:nvPr/>
        </p:nvSpPr>
        <p:spPr>
          <a:xfrm>
            <a:off x="745236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</a:t>
            </a:r>
            <a:endParaRPr lang="es-CO" sz="1400" noProof="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38A5C4D8-C7E4-BF48-9F6C-2144C9912D02}"/>
              </a:ext>
            </a:extLst>
          </p:cNvPr>
          <p:cNvSpPr/>
          <p:nvPr/>
        </p:nvSpPr>
        <p:spPr>
          <a:xfrm>
            <a:off x="7452360" y="420624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AF6F3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A062083-1D0A-56F9-D1F7-675952350A94}"/>
              </a:ext>
            </a:extLst>
          </p:cNvPr>
          <p:cNvSpPr/>
          <p:nvPr/>
        </p:nvSpPr>
        <p:spPr>
          <a:xfrm>
            <a:off x="7635240" y="43159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000" b="1" noProof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</a:t>
            </a:r>
            <a:endParaRPr lang="es-CO" sz="2000" noProof="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5052E74-D14C-4EC2-B2D1-C5BA1D0CC1E2}"/>
              </a:ext>
            </a:extLst>
          </p:cNvPr>
          <p:cNvSpPr/>
          <p:nvPr/>
        </p:nvSpPr>
        <p:spPr>
          <a:xfrm>
            <a:off x="8503920" y="43434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s-CO" sz="11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11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s-CO" sz="1100" noProof="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09CF4A5A-627E-253B-E921-76B4885509A9}"/>
              </a:ext>
            </a:extLst>
          </p:cNvPr>
          <p:cNvSpPr/>
          <p:nvPr/>
        </p:nvSpPr>
        <p:spPr>
          <a:xfrm>
            <a:off x="7452360" y="525780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AF6F3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E2F5DC4-8D4D-0580-CE8A-273886E9DDAD}"/>
              </a:ext>
            </a:extLst>
          </p:cNvPr>
          <p:cNvSpPr/>
          <p:nvPr/>
        </p:nvSpPr>
        <p:spPr>
          <a:xfrm>
            <a:off x="7635240" y="536752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000" b="1" noProof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s-CO" sz="2000" noProof="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DE88335-F62B-61C2-5D89-8377A57697FA}"/>
              </a:ext>
            </a:extLst>
          </p:cNvPr>
          <p:cNvSpPr/>
          <p:nvPr/>
        </p:nvSpPr>
        <p:spPr>
          <a:xfrm>
            <a:off x="8503920" y="53949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"Error: {mensaje}" (ej. "Error: '</a:t>
            </a:r>
            <a:r>
              <a:rPr lang="es-CO" sz="11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tipo_pago</a:t>
            </a: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</a:t>
            </a:r>
            <a:r>
              <a:rPr lang="es-CO" sz="11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11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11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</a:t>
            </a: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s-CO" sz="1100" noProof="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F46F6E58-462E-1800-3861-C9C4CB1601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26" t="-2263" b="2263"/>
          <a:stretch>
            <a:fillRect/>
          </a:stretch>
        </p:blipFill>
        <p:spPr>
          <a:xfrm>
            <a:off x="874467" y="3272676"/>
            <a:ext cx="5221533" cy="336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50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28013-8BEC-6B85-C4EA-99E91B265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444158-0E8F-7EDD-C199-9F2C7EB59C61}"/>
              </a:ext>
            </a:extLst>
          </p:cNvPr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2800" b="1" noProof="0" dirty="0" err="1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Endpoints</a:t>
            </a:r>
            <a:r>
              <a:rPr lang="es-CO" sz="28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principales</a:t>
            </a:r>
            <a:endParaRPr lang="es-CO" sz="28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491F20-0AD5-0AFB-6D89-BE08815E56E8}"/>
              </a:ext>
            </a:extLst>
          </p:cNvPr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documentada con 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(Swagger UI en /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/</a:t>
            </a:r>
            <a:r>
              <a:rPr lang="es-CO" sz="1300" noProof="0" dirty="0" err="1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redoc</a:t>
            </a:r>
            <a:r>
              <a:rPr lang="es-CO" sz="13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CO" sz="1300" noProof="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8658357E-07BA-0BDA-A2AA-1A54C1C3E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604055"/>
              </p:ext>
            </p:extLst>
          </p:nvPr>
        </p:nvGraphicFramePr>
        <p:xfrm>
          <a:off x="640080" y="1691640"/>
          <a:ext cx="10881360" cy="8686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/api/v1/</a:t>
                      </a:r>
                      <a:r>
                        <a:rPr lang="es-CO" sz="1250" noProof="0" dirty="0" err="1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</a:t>
                      </a: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r>
                        <a:rPr lang="es-CO" sz="1250" noProof="0" dirty="0" err="1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calculate-from-pdf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CO" sz="1250" noProof="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Liquidación de nómina extrayendo datos directo del PDF del contrato</a:t>
                      </a:r>
                      <a:endParaRPr lang="es-CO" sz="12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2EB23E69-0F76-1F7D-21C2-9152DE5B77B9}"/>
              </a:ext>
            </a:extLst>
          </p:cNvPr>
          <p:cNvSpPr/>
          <p:nvPr/>
        </p:nvSpPr>
        <p:spPr>
          <a:xfrm>
            <a:off x="64008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respuesta — /</a:t>
            </a:r>
            <a:r>
              <a:rPr lang="es-CO" sz="1400" b="1" noProof="0" dirty="0" err="1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calculate-from-pdf</a:t>
            </a:r>
            <a:endParaRPr lang="es-CO" sz="1400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B618D3F-722D-6528-9E9B-2EC90F4CFA4D}"/>
              </a:ext>
            </a:extLst>
          </p:cNvPr>
          <p:cNvSpPr/>
          <p:nvPr/>
        </p:nvSpPr>
        <p:spPr>
          <a:xfrm>
            <a:off x="7452360" y="3063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4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</a:t>
            </a:r>
            <a:endParaRPr lang="es-CO" sz="1400" noProof="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3C79003-A403-6BBC-1EA0-20E5A07EB45B}"/>
              </a:ext>
            </a:extLst>
          </p:cNvPr>
          <p:cNvSpPr/>
          <p:nvPr/>
        </p:nvSpPr>
        <p:spPr>
          <a:xfrm>
            <a:off x="7452360" y="352044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AF6F3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694A837-E654-6847-EBCC-0A91E70A5C08}"/>
              </a:ext>
            </a:extLst>
          </p:cNvPr>
          <p:cNvSpPr/>
          <p:nvPr/>
        </p:nvSpPr>
        <p:spPr>
          <a:xfrm>
            <a:off x="7635240" y="36301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000" b="1" noProof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s-CO" sz="2000" noProof="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87D1BA0-91D6-AE63-0EA0-0D1DDCE7D346}"/>
              </a:ext>
            </a:extLst>
          </p:cNvPr>
          <p:cNvSpPr/>
          <p:nvPr/>
        </p:nvSpPr>
        <p:spPr>
          <a:xfrm>
            <a:off x="8503920" y="36576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documento al cual procesar.</a:t>
            </a:r>
            <a:endParaRPr lang="es-CO" sz="1100" noProof="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F5318E9E-50FF-A358-44BA-59A106762988}"/>
              </a:ext>
            </a:extLst>
          </p:cNvPr>
          <p:cNvSpPr/>
          <p:nvPr/>
        </p:nvSpPr>
        <p:spPr>
          <a:xfrm>
            <a:off x="7452360" y="457200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AF6F3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3F0C1E9-67FD-9CE8-77C5-DB560E28D35D}"/>
              </a:ext>
            </a:extLst>
          </p:cNvPr>
          <p:cNvSpPr/>
          <p:nvPr/>
        </p:nvSpPr>
        <p:spPr>
          <a:xfrm>
            <a:off x="7635240" y="468172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2000" b="1" noProof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503</a:t>
            </a:r>
            <a:endParaRPr lang="es-CO" sz="2000" noProof="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7AD76196-40A3-CB74-9643-C0943C0C0D9D}"/>
              </a:ext>
            </a:extLst>
          </p:cNvPr>
          <p:cNvSpPr/>
          <p:nvPr/>
        </p:nvSpPr>
        <p:spPr>
          <a:xfrm>
            <a:off x="8503920" y="47091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7A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se pudo procesar el contrato con la IA local."</a:t>
            </a:r>
            <a:endParaRPr lang="es-CO" sz="1100" noProof="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BD3BA355-105A-EA5D-5143-DB157F078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105" y="3429000"/>
            <a:ext cx="5295996" cy="325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938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28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Filosofía del proyecto</a:t>
            </a:r>
            <a:endParaRPr lang="es-CO" sz="2800" noProof="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76479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6112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Soberanía de datos</a:t>
            </a:r>
            <a:endParaRPr lang="es-CO" sz="1500" noProof="0" dirty="0"/>
          </a:p>
        </p:txBody>
      </p:sp>
      <p:sp>
        <p:nvSpPr>
          <p:cNvPr id="6" name="Text 3"/>
          <p:cNvSpPr/>
          <p:nvPr/>
        </p:nvSpPr>
        <p:spPr>
          <a:xfrm>
            <a:off x="896112" y="27432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5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procesa </a:t>
            </a:r>
            <a:r>
              <a:rPr lang="es-CO" sz="1150" noProof="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r>
              <a:rPr lang="es-CO" sz="115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-premise. Contratos e identificaciones de artistas nunca salen hacia servidores externos.</a:t>
            </a:r>
            <a:endParaRPr lang="es-CO" sz="1150" noProof="0" dirty="0"/>
          </a:p>
        </p:txBody>
      </p:sp>
      <p:sp>
        <p:nvSpPr>
          <p:cNvPr id="7" name="Shape 4"/>
          <p:cNvSpPr/>
          <p:nvPr/>
        </p:nvSpPr>
        <p:spPr>
          <a:xfrm>
            <a:off x="4389120" y="150876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176479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45152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operacional $0</a:t>
            </a:r>
            <a:endParaRPr lang="es-CO" sz="1500" noProof="0" dirty="0"/>
          </a:p>
        </p:txBody>
      </p:sp>
      <p:sp>
        <p:nvSpPr>
          <p:cNvPr id="10" name="Text 6"/>
          <p:cNvSpPr/>
          <p:nvPr/>
        </p:nvSpPr>
        <p:spPr>
          <a:xfrm>
            <a:off x="4645152" y="27432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5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open-</a:t>
            </a:r>
            <a:r>
              <a:rPr lang="es-CO" sz="1150" noProof="0" dirty="0" err="1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r>
              <a:rPr lang="es-CO" sz="115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ejecutados localmente. Sin suscripciones ni cobro por token.</a:t>
            </a:r>
            <a:endParaRPr lang="es-CO" sz="1150" noProof="0" dirty="0"/>
          </a:p>
        </p:txBody>
      </p:sp>
      <p:sp>
        <p:nvSpPr>
          <p:cNvPr id="11" name="Shape 7"/>
          <p:cNvSpPr/>
          <p:nvPr/>
        </p:nvSpPr>
        <p:spPr>
          <a:xfrm>
            <a:off x="8138160" y="150876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1764792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94192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total</a:t>
            </a:r>
            <a:endParaRPr lang="es-CO" sz="1500" noProof="0" dirty="0"/>
          </a:p>
        </p:txBody>
      </p:sp>
      <p:sp>
        <p:nvSpPr>
          <p:cNvPr id="14" name="Text 9"/>
          <p:cNvSpPr/>
          <p:nvPr/>
        </p:nvSpPr>
        <p:spPr>
          <a:xfrm>
            <a:off x="8394192" y="274320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5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Desgloses de pago claros y auditables, con trazabilidad completa para artistas y productoras.</a:t>
            </a:r>
            <a:endParaRPr lang="es-CO" sz="1150" noProof="0" dirty="0"/>
          </a:p>
        </p:txBody>
      </p:sp>
      <p:sp>
        <p:nvSpPr>
          <p:cNvPr id="15" name="Text 10"/>
          <p:cNvSpPr/>
          <p:nvPr/>
        </p:nvSpPr>
        <p:spPr>
          <a:xfrm>
            <a:off x="64008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600" b="1" noProof="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proyecto</a:t>
            </a:r>
            <a:endParaRPr lang="es-CO" sz="1600" noProof="0" dirty="0"/>
          </a:p>
        </p:txBody>
      </p:sp>
      <p:sp>
        <p:nvSpPr>
          <p:cNvPr id="16" name="Shape 11"/>
          <p:cNvSpPr/>
          <p:nvPr/>
        </p:nvSpPr>
        <p:spPr>
          <a:xfrm>
            <a:off x="640080" y="452628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231B1E"/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Text 12"/>
          <p:cNvSpPr/>
          <p:nvPr/>
        </p:nvSpPr>
        <p:spPr>
          <a:xfrm>
            <a:off x="914400" y="470916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noProof="0" dirty="0" err="1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s-CO" sz="1300" noProof="0" dirty="0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s-CO" sz="1300" noProof="0" dirty="0"/>
          </a:p>
          <a:p>
            <a:pPr marL="0" indent="0">
              <a:buNone/>
            </a:pPr>
            <a:r>
              <a:rPr lang="es-CO" sz="1300" noProof="0" dirty="0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r>
              <a:rPr lang="es-CO" sz="1300" noProof="0" dirty="0" err="1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</a:t>
            </a:r>
            <a:r>
              <a:rPr lang="es-CO" sz="1300" noProof="0" dirty="0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          # Entidades y lógica de negocio</a:t>
            </a:r>
            <a:endParaRPr lang="es-CO" sz="1300" noProof="0" dirty="0"/>
          </a:p>
          <a:p>
            <a:pPr marL="0" indent="0">
              <a:buNone/>
            </a:pPr>
            <a:r>
              <a:rPr lang="es-CO" sz="1300" noProof="0" dirty="0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r>
              <a:rPr lang="es-CO" sz="1300" noProof="0" dirty="0" err="1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</a:t>
            </a:r>
            <a:r>
              <a:rPr lang="es-CO" sz="1300" noProof="0" dirty="0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     # Puertos (interfaces)</a:t>
            </a:r>
            <a:endParaRPr lang="es-CO" sz="1300" noProof="0" dirty="0"/>
          </a:p>
          <a:p>
            <a:pPr marL="0" indent="0">
              <a:buNone/>
            </a:pPr>
            <a:r>
              <a:rPr lang="es-CO" sz="1300" noProof="0" dirty="0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r>
              <a:rPr lang="es-CO" sz="1300" noProof="0" dirty="0" err="1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</a:t>
            </a:r>
            <a:r>
              <a:rPr lang="es-CO" sz="1300" noProof="0" dirty="0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  # Adaptadores (</a:t>
            </a:r>
            <a:r>
              <a:rPr lang="es-CO" sz="1300" noProof="0" dirty="0" err="1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</a:t>
            </a:r>
            <a:r>
              <a:rPr lang="es-CO" sz="1300" noProof="0" dirty="0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Ollama, PDF)</a:t>
            </a:r>
            <a:endParaRPr lang="es-CO" sz="1300" noProof="0" dirty="0"/>
          </a:p>
          <a:p>
            <a:pPr marL="0" indent="0">
              <a:buNone/>
            </a:pPr>
            <a:r>
              <a:rPr lang="es-CO" sz="1300" noProof="0" dirty="0">
                <a:solidFill>
                  <a:srgbClr val="E8D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factory.py        # Inyección de dependencias</a:t>
            </a:r>
            <a:endParaRPr lang="es-CO" sz="13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A0F63-70E8-C062-EB44-14F16B50E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C57DC2E-3CDE-555A-608F-9BE5B6C52CD6}"/>
              </a:ext>
            </a:extLst>
          </p:cNvPr>
          <p:cNvSpPr/>
          <p:nvPr/>
        </p:nvSpPr>
        <p:spPr>
          <a:xfrm>
            <a:off x="640080" y="457200"/>
            <a:ext cx="3718560" cy="5260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36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</a:t>
            </a:r>
          </a:p>
          <a:p>
            <a:pPr marL="0" indent="0">
              <a:buNone/>
            </a:pPr>
            <a:r>
              <a:rPr lang="es-CO" sz="36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</a:t>
            </a:r>
          </a:p>
          <a:p>
            <a:pPr marL="0" indent="0">
              <a:buNone/>
            </a:pPr>
            <a:r>
              <a:rPr lang="es-CO" sz="36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</a:t>
            </a:r>
            <a:endParaRPr lang="es-CO" sz="3600" noProof="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AD201100-4466-82AC-E1B8-1D66E6A68301}"/>
              </a:ext>
            </a:extLst>
          </p:cNvPr>
          <p:cNvSpPr/>
          <p:nvPr/>
        </p:nvSpPr>
        <p:spPr>
          <a:xfrm>
            <a:off x="4561968" y="650207"/>
            <a:ext cx="6989952" cy="5557585"/>
          </a:xfrm>
          <a:prstGeom prst="roundRect">
            <a:avLst>
              <a:gd name="adj" fmla="val 4000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E79BA4DA-8AC8-F205-2B20-8F121101C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611" y="995422"/>
            <a:ext cx="4897338" cy="486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34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40F7B-7063-8436-788E-F324C2BF8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61F62E-082A-5C85-FAD9-86FE209DCF68}"/>
              </a:ext>
            </a:extLst>
          </p:cNvPr>
          <p:cNvSpPr/>
          <p:nvPr/>
        </p:nvSpPr>
        <p:spPr>
          <a:xfrm>
            <a:off x="640080" y="457200"/>
            <a:ext cx="9615090" cy="816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36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FLUJO</a:t>
            </a: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03394CAB-0658-FC9C-1F23-EF201184C1CD}"/>
              </a:ext>
            </a:extLst>
          </p:cNvPr>
          <p:cNvSpPr/>
          <p:nvPr/>
        </p:nvSpPr>
        <p:spPr>
          <a:xfrm>
            <a:off x="497711" y="1817513"/>
            <a:ext cx="10938462" cy="4390566"/>
          </a:xfrm>
          <a:prstGeom prst="roundRect">
            <a:avLst>
              <a:gd name="adj" fmla="val 4000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8E00B94-478A-9C5E-6524-95030447B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418" y="2152787"/>
            <a:ext cx="8287281" cy="372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427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4F3B5-CC98-737D-5AC4-228BD3593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20855C2-9982-5A38-3835-EC31B4083B6F}"/>
              </a:ext>
            </a:extLst>
          </p:cNvPr>
          <p:cNvSpPr/>
          <p:nvPr/>
        </p:nvSpPr>
        <p:spPr>
          <a:xfrm>
            <a:off x="640080" y="457200"/>
            <a:ext cx="9615090" cy="816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3600" b="1" noProof="0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COMPONENTES</a:t>
            </a: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C25D8EB-A030-CCA3-46FF-7910EA7312C3}"/>
              </a:ext>
            </a:extLst>
          </p:cNvPr>
          <p:cNvSpPr/>
          <p:nvPr/>
        </p:nvSpPr>
        <p:spPr>
          <a:xfrm>
            <a:off x="497711" y="1909822"/>
            <a:ext cx="10938462" cy="3240913"/>
          </a:xfrm>
          <a:prstGeom prst="roundRect">
            <a:avLst>
              <a:gd name="adj" fmla="val 4000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O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41D9E84-BE1A-C226-6F6E-50826B719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610" y="2403963"/>
            <a:ext cx="9740779" cy="244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778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6D2E46">
              <a:alpha val="55000"/>
            </a:srgbClr>
          </a:solidFill>
          <a:ln/>
        </p:spPr>
        <p:txBody>
          <a:bodyPr/>
          <a:lstStyle/>
          <a:p>
            <a:endParaRPr lang="es-CO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286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4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s-CO" sz="4600" noProof="0" dirty="0"/>
          </a:p>
        </p:txBody>
      </p:sp>
      <p:sp>
        <p:nvSpPr>
          <p:cNvPr id="4" name="Text 2"/>
          <p:cNvSpPr/>
          <p:nvPr/>
        </p:nvSpPr>
        <p:spPr>
          <a:xfrm>
            <a:off x="795528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600" noProof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S.A.R.A. — Sistema Autónomo de Remuneración Artística</a:t>
            </a:r>
            <a:endParaRPr lang="es-CO" sz="1600" noProof="0" dirty="0"/>
          </a:p>
        </p:txBody>
      </p:sp>
      <p:sp>
        <p:nvSpPr>
          <p:cNvPr id="5" name="Text 3"/>
          <p:cNvSpPr/>
          <p:nvPr/>
        </p:nvSpPr>
        <p:spPr>
          <a:xfrm>
            <a:off x="795528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i="1" noProof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github.com/nijamusa99/S.A.R.A-</a:t>
            </a:r>
            <a:endParaRPr lang="es-CO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795528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C9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proyecto: En desarrollo activo (MVP)</a:t>
            </a:r>
            <a:endParaRPr lang="es-CO" sz="12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1029</Words>
  <Application>Microsoft Office PowerPoint</Application>
  <PresentationFormat>Panorámica</PresentationFormat>
  <Paragraphs>166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S.A.R.A. - Sistema Autónomo de Remuneración Artística</dc:title>
  <dc:subject>PptxGenJS Presentation</dc:subject>
  <dc:creator>S.A.R.A.</dc:creator>
  <cp:lastModifiedBy>NICOLAS JAIR  MUÑOZ SANCHEZ - ESTUDIANTE</cp:lastModifiedBy>
  <cp:revision>3</cp:revision>
  <dcterms:created xsi:type="dcterms:W3CDTF">2026-07-07T19:21:15Z</dcterms:created>
  <dcterms:modified xsi:type="dcterms:W3CDTF">2026-07-09T17:31:54Z</dcterms:modified>
</cp:coreProperties>
</file>