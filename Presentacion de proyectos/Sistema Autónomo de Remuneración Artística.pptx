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71" r:id="rId6"/>
    <p:sldId id="260" r:id="rId7"/>
    <p:sldId id="261" r:id="rId8"/>
    <p:sldId id="270" r:id="rId9"/>
    <p:sldId id="267" r:id="rId10"/>
    <p:sldId id="268" r:id="rId11"/>
    <p:sldId id="269" r:id="rId12"/>
    <p:sldId id="262" r:id="rId13"/>
    <p:sldId id="264" r:id="rId14"/>
    <p:sldId id="265" r:id="rId15"/>
    <p:sldId id="266" r:id="rId16"/>
    <p:sldId id="263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COLAS JAIR  MUÑOZ SANCHEZ - ESTUDIANTE" userId="d386eea0-db42-4956-ad98-9eb74ad5dc85" providerId="ADAL" clId="{EF44BFD6-F6DE-4A7E-BCFD-534D25CCB91B}"/>
    <pc:docChg chg="modSld">
      <pc:chgData name="NICOLAS JAIR  MUÑOZ SANCHEZ - ESTUDIANTE" userId="d386eea0-db42-4956-ad98-9eb74ad5dc85" providerId="ADAL" clId="{EF44BFD6-F6DE-4A7E-BCFD-534D25CCB91B}" dt="2026-07-07T20:04:07.165" v="0" actId="1076"/>
      <pc:docMkLst>
        <pc:docMk/>
      </pc:docMkLst>
      <pc:sldChg chg="modSp mod">
        <pc:chgData name="NICOLAS JAIR  MUÑOZ SANCHEZ - ESTUDIANTE" userId="d386eea0-db42-4956-ad98-9eb74ad5dc85" providerId="ADAL" clId="{EF44BFD6-F6DE-4A7E-BCFD-534D25CCB91B}" dt="2026-07-07T20:04:07.165" v="0" actId="1076"/>
        <pc:sldMkLst>
          <pc:docMk/>
          <pc:sldMk cId="0" sldId="256"/>
        </pc:sldMkLst>
        <pc:spChg chg="mod">
          <ac:chgData name="NICOLAS JAIR  MUÑOZ SANCHEZ - ESTUDIANTE" userId="d386eea0-db42-4956-ad98-9eb74ad5dc85" providerId="ADAL" clId="{EF44BFD6-F6DE-4A7E-BCFD-534D25CCB91B}" dt="2026-07-07T20:04:07.165" v="0" actId="1076"/>
          <ac:spMkLst>
            <pc:docMk/>
            <pc:sldMk cId="0" sldId="256"/>
            <ac:spMk id="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17212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49ACF7-6C7A-E5B2-A576-21286E14E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D43A49-7670-0A44-D538-8AD9FBA959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A44167-688A-4EFB-CDB1-2258356F77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6107D3-1B5C-A01C-4B93-323D151E7B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4454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995C9F-8C2C-4611-CE13-BC1AE9F1A3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0124FD-3F60-0B1B-765D-4754B7CA4D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3D5E00-DF23-92AA-99F0-AB68E00DFC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FC702A-36F4-787B-93AC-6AB33FCE8F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8524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6EA929-2CE2-41AE-0262-2AFFDF3851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1C57E1-2B8A-7EF1-75F9-C310527FE7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FCA93E-A2EA-BF16-5C0D-57E8BCA2CD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DA385D-66D1-386C-B287-B501062528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8671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7B92C4-E834-5FDE-5492-229D24A1B8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5761BE-66B2-1234-1AD1-854B22C22E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9CE615-8785-E605-A262-5BECC4FC5A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2CBCA1-2D38-DB4C-7E3C-87D381B02F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938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BECD3A-5811-ED83-D605-21C1FEECF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ED5398-040C-7E0F-8989-837AA7DCAE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BB7CC5-6926-A5C1-A49C-E153A0A324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DC52CE-EE46-2320-1572-7D6E257046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7712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B1986-2913-AF5B-EAC3-D9E24456DC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8BF1F8-9AC8-1E34-C62F-2C9B50C891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789F5D-CDD2-5851-EEAC-1FDB534FD0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CBA12C-5CBB-7BAB-AAD7-13C90A4B93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30573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AE2998-3B8B-071A-E107-9FAE5B2C5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EAA9BF-FEC8-CCDC-F18A-F19140348C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73F05A-3F76-4A88-B1B4-4D340BD69B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9D7A6E-8A57-47CC-A2F4-54E13C2DBC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9286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A4B5D9-C858-FE86-562A-55BDF7658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9EF671-2930-0D14-ED58-31CEE3E3B2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2ED2E7-65D3-774A-E144-A8F40441CE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5C14EB-53FF-935C-6073-FE9303179F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79056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41C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011680"/>
            <a:ext cx="5486400" cy="5486400"/>
          </a:xfrm>
          <a:prstGeom prst="ellipse">
            <a:avLst/>
          </a:prstGeom>
          <a:solidFill>
            <a:srgbClr val="6D2E46">
              <a:alpha val="60000"/>
            </a:srgbClr>
          </a:solidFill>
          <a:ln/>
        </p:spPr>
        <p:txBody>
          <a:bodyPr/>
          <a:lstStyle/>
          <a:p>
            <a:endParaRPr lang="es-CO" noProof="0" dirty="0"/>
          </a:p>
        </p:txBody>
      </p:sp>
      <p:sp>
        <p:nvSpPr>
          <p:cNvPr id="3" name="Shape 1"/>
          <p:cNvSpPr/>
          <p:nvPr/>
        </p:nvSpPr>
        <p:spPr>
          <a:xfrm>
            <a:off x="10332720" y="3840480"/>
            <a:ext cx="3657600" cy="3657600"/>
          </a:xfrm>
          <a:prstGeom prst="ellipse">
            <a:avLst/>
          </a:prstGeom>
          <a:solidFill>
            <a:srgbClr val="C9A15A">
              <a:alpha val="22000"/>
            </a:srgbClr>
          </a:solidFill>
          <a:ln/>
        </p:spPr>
        <p:txBody>
          <a:bodyPr/>
          <a:lstStyle/>
          <a:p>
            <a:endParaRPr lang="es-CO" noProof="0" dirty="0"/>
          </a:p>
        </p:txBody>
      </p:sp>
      <p:sp>
        <p:nvSpPr>
          <p:cNvPr id="4" name="Text 2"/>
          <p:cNvSpPr/>
          <p:nvPr/>
        </p:nvSpPr>
        <p:spPr>
          <a:xfrm>
            <a:off x="731520" y="474044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58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S.A.R.A.</a:t>
            </a:r>
            <a:endParaRPr lang="es-CO" sz="5800" noProof="0" dirty="0"/>
          </a:p>
        </p:txBody>
      </p:sp>
      <p:sp>
        <p:nvSpPr>
          <p:cNvPr id="5" name="Text 3"/>
          <p:cNvSpPr/>
          <p:nvPr/>
        </p:nvSpPr>
        <p:spPr>
          <a:xfrm>
            <a:off x="868680" y="156407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2100" noProof="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Autónomo de Remuneración Artística</a:t>
            </a:r>
            <a:endParaRPr lang="es-CO" sz="21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2211404"/>
            <a:ext cx="502920" cy="36576"/>
          </a:xfrm>
          <a:prstGeom prst="rect">
            <a:avLst/>
          </a:prstGeom>
          <a:solidFill>
            <a:srgbClr val="C9A15A"/>
          </a:solidFill>
          <a:ln/>
        </p:spPr>
        <p:txBody>
          <a:bodyPr/>
          <a:lstStyle/>
          <a:p>
            <a:endParaRPr lang="es-CO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2502933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400" noProof="0" dirty="0">
                <a:solidFill>
                  <a:srgbClr val="D8C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liquidación y auditoría de nómina para artes escénicas — con IA local, arquitectura hexagonal y soberanía total de datos.</a:t>
            </a:r>
            <a:endParaRPr lang="es-CO" sz="1400" noProof="0" dirty="0"/>
          </a:p>
        </p:txBody>
      </p:sp>
      <p:sp>
        <p:nvSpPr>
          <p:cNvPr id="8" name="Text 6"/>
          <p:cNvSpPr/>
          <p:nvPr/>
        </p:nvSpPr>
        <p:spPr>
          <a:xfrm>
            <a:off x="777240" y="6035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200" i="1" noProof="0" dirty="0">
                <a:solidFill>
                  <a:srgbClr val="C9A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 ·  </a:t>
            </a:r>
            <a:r>
              <a:rPr lang="es-CO" sz="1200" i="1" noProof="0" dirty="0" err="1">
                <a:solidFill>
                  <a:srgbClr val="C9A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</a:t>
            </a:r>
            <a:r>
              <a:rPr lang="es-CO" sz="1200" i="1" noProof="0" dirty="0">
                <a:solidFill>
                  <a:srgbClr val="C9A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CO" sz="1200" i="1" noProof="0" dirty="0" err="1">
                <a:solidFill>
                  <a:srgbClr val="C9A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r>
              <a:rPr lang="es-CO" sz="1200" i="1" noProof="0" dirty="0">
                <a:solidFill>
                  <a:srgbClr val="C9A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s-CO" sz="1200" i="1" noProof="0" dirty="0" err="1">
                <a:solidFill>
                  <a:srgbClr val="C9A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r>
              <a:rPr lang="es-CO" sz="1200" i="1" noProof="0" dirty="0">
                <a:solidFill>
                  <a:srgbClr val="C9A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Ollama</a:t>
            </a:r>
            <a:endParaRPr lang="es-CO" sz="1200" noProof="0" dirty="0"/>
          </a:p>
        </p:txBody>
      </p:sp>
      <p:pic>
        <p:nvPicPr>
          <p:cNvPr id="10" name="Imagen 9" descr="San Mateo-Nuestra Institución">
            <a:extLst>
              <a:ext uri="{FF2B5EF4-FFF2-40B4-BE49-F238E27FC236}">
                <a16:creationId xmlns:a16="http://schemas.microsoft.com/office/drawing/2014/main" id="{B111A497-B4B1-EB69-2005-C3D86F1EC7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440" y="5194763"/>
            <a:ext cx="4457400" cy="1206037"/>
          </a:xfrm>
          <a:prstGeom prst="rect">
            <a:avLst/>
          </a:prstGeom>
        </p:spPr>
      </p:pic>
      <p:sp>
        <p:nvSpPr>
          <p:cNvPr id="14" name="Text 3">
            <a:extLst>
              <a:ext uri="{FF2B5EF4-FFF2-40B4-BE49-F238E27FC236}">
                <a16:creationId xmlns:a16="http://schemas.microsoft.com/office/drawing/2014/main" id="{B199A964-FAAD-8D29-E604-01330193598F}"/>
              </a:ext>
            </a:extLst>
          </p:cNvPr>
          <p:cNvSpPr/>
          <p:nvPr/>
        </p:nvSpPr>
        <p:spPr>
          <a:xfrm>
            <a:off x="1280160" y="413436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O" sz="2100" noProof="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Nicolas Jair Muñoz </a:t>
            </a:r>
            <a:r>
              <a:rPr lang="es-CO" sz="2100" noProof="0" dirty="0" err="1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Sanchez</a:t>
            </a:r>
            <a:endParaRPr lang="es-CO" sz="2100" noProof="0" dirty="0">
              <a:solidFill>
                <a:srgbClr val="ECE2D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s-CO" sz="2100" noProof="0" dirty="0">
              <a:solidFill>
                <a:srgbClr val="ECE2D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es-CO" sz="2100" noProof="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Patrones de Software</a:t>
            </a:r>
          </a:p>
          <a:p>
            <a:pPr marL="0" indent="0">
              <a:buNone/>
            </a:pPr>
            <a:endParaRPr lang="es-CO" sz="2100" noProof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3000" b="1" noProof="0" dirty="0">
                <a:solidFill>
                  <a:srgbClr val="2B20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problema del productor teatral</a:t>
            </a:r>
            <a:endParaRPr lang="es-CO" sz="3000" noProof="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400" noProof="0" dirty="0">
                <a:solidFill>
                  <a:srgbClr val="7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un ámbito tan artístico tan eufórico, lo ultimo que puede llegar a importar es la logística del mismo, dejando a un lado temas tan importantes como pago a las personas que hacen que todo sea posible.</a:t>
            </a:r>
            <a:endParaRPr lang="es-CO" sz="1400" noProof="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029200" cy="1051560"/>
          </a:xfrm>
          <a:prstGeom prst="roundRect">
            <a:avLst>
              <a:gd name="adj" fmla="val 6957"/>
            </a:avLst>
          </a:prstGeom>
          <a:solidFill>
            <a:srgbClr val="FAF6F3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 noProof="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103120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20116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400" b="1" noProof="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 manual y propenso a errores</a:t>
            </a:r>
            <a:endParaRPr lang="es-CO" sz="1400" noProof="0" dirty="0"/>
          </a:p>
        </p:txBody>
      </p:sp>
      <p:sp>
        <p:nvSpPr>
          <p:cNvPr id="7" name="Text 4"/>
          <p:cNvSpPr/>
          <p:nvPr/>
        </p:nvSpPr>
        <p:spPr>
          <a:xfrm>
            <a:off x="1417320" y="2350008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100" noProof="0" dirty="0">
                <a:solidFill>
                  <a:srgbClr val="7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Porcentajes de taquilla, garantías mínimas y pagos fijos calculados a mano, función por función.</a:t>
            </a:r>
            <a:endParaRPr lang="es-CO" sz="1100" noProof="0" dirty="0"/>
          </a:p>
        </p:txBody>
      </p:sp>
      <p:sp>
        <p:nvSpPr>
          <p:cNvPr id="8" name="Shape 5"/>
          <p:cNvSpPr/>
          <p:nvPr/>
        </p:nvSpPr>
        <p:spPr>
          <a:xfrm>
            <a:off x="6035040" y="1874520"/>
            <a:ext cx="5029200" cy="1051560"/>
          </a:xfrm>
          <a:prstGeom prst="roundRect">
            <a:avLst>
              <a:gd name="adj" fmla="val 6957"/>
            </a:avLst>
          </a:prstGeom>
          <a:solidFill>
            <a:srgbClr val="FAF6F3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 noProof="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2103120"/>
            <a:ext cx="384048" cy="3840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12280" y="20116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400" b="1" noProof="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Retenciones inconsistentes</a:t>
            </a:r>
            <a:endParaRPr lang="es-CO" sz="1400" noProof="0" dirty="0"/>
          </a:p>
        </p:txBody>
      </p:sp>
      <p:sp>
        <p:nvSpPr>
          <p:cNvPr id="11" name="Text 7"/>
          <p:cNvSpPr/>
          <p:nvPr/>
        </p:nvSpPr>
        <p:spPr>
          <a:xfrm>
            <a:off x="6812280" y="2350008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100" noProof="0" dirty="0">
                <a:solidFill>
                  <a:srgbClr val="7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la normativa tributaria colombiana vigente (</a:t>
            </a:r>
            <a:r>
              <a:rPr lang="es-CO" sz="1100" noProof="0" dirty="0" err="1">
                <a:solidFill>
                  <a:srgbClr val="7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ReteFuente</a:t>
            </a:r>
            <a:r>
              <a:rPr lang="es-CO" sz="1100" noProof="0" dirty="0">
                <a:solidFill>
                  <a:srgbClr val="7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de forma manual genera errores costosos.</a:t>
            </a:r>
            <a:endParaRPr lang="es-CO" sz="1100" noProof="0" dirty="0"/>
          </a:p>
        </p:txBody>
      </p:sp>
      <p:sp>
        <p:nvSpPr>
          <p:cNvPr id="12" name="Shape 8"/>
          <p:cNvSpPr/>
          <p:nvPr/>
        </p:nvSpPr>
        <p:spPr>
          <a:xfrm>
            <a:off x="640080" y="3246120"/>
            <a:ext cx="5029200" cy="1051560"/>
          </a:xfrm>
          <a:prstGeom prst="roundRect">
            <a:avLst>
              <a:gd name="adj" fmla="val 6957"/>
            </a:avLst>
          </a:prstGeom>
          <a:solidFill>
            <a:srgbClr val="FAF6F3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 noProof="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474720"/>
            <a:ext cx="384048" cy="38404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17320" y="33832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400" b="1" noProof="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Cero trazabilidad ante reclamos</a:t>
            </a:r>
            <a:endParaRPr lang="es-CO" sz="1400" noProof="0" dirty="0"/>
          </a:p>
        </p:txBody>
      </p:sp>
      <p:sp>
        <p:nvSpPr>
          <p:cNvPr id="15" name="Text 10"/>
          <p:cNvSpPr/>
          <p:nvPr/>
        </p:nvSpPr>
        <p:spPr>
          <a:xfrm>
            <a:off x="1417320" y="3721608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100" noProof="0" dirty="0">
                <a:solidFill>
                  <a:srgbClr val="7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mi pago fue menor este mes? Sin auditoría clara, cada reclamo consume horas del equipo.</a:t>
            </a:r>
            <a:endParaRPr lang="es-CO" sz="1100" noProof="0" dirty="0"/>
          </a:p>
        </p:txBody>
      </p:sp>
      <p:sp>
        <p:nvSpPr>
          <p:cNvPr id="16" name="Shape 11"/>
          <p:cNvSpPr/>
          <p:nvPr/>
        </p:nvSpPr>
        <p:spPr>
          <a:xfrm>
            <a:off x="6035040" y="3246120"/>
            <a:ext cx="5029200" cy="1051560"/>
          </a:xfrm>
          <a:prstGeom prst="roundRect">
            <a:avLst>
              <a:gd name="adj" fmla="val 6957"/>
            </a:avLst>
          </a:prstGeom>
          <a:solidFill>
            <a:srgbClr val="FAF6F3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 noProof="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3474720"/>
            <a:ext cx="384048" cy="38404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812280" y="33832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400" b="1" noProof="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sensibles en la nube</a:t>
            </a:r>
            <a:endParaRPr lang="es-CO" sz="1400" noProof="0" dirty="0"/>
          </a:p>
        </p:txBody>
      </p:sp>
      <p:sp>
        <p:nvSpPr>
          <p:cNvPr id="19" name="Text 13"/>
          <p:cNvSpPr/>
          <p:nvPr/>
        </p:nvSpPr>
        <p:spPr>
          <a:xfrm>
            <a:off x="6812280" y="3721608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100" noProof="0" dirty="0">
                <a:solidFill>
                  <a:srgbClr val="7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Contratos e identificaciones de artistas viajando a hojas de cálculo compartidas o SaaS externos.</a:t>
            </a:r>
            <a:endParaRPr lang="es-CO" sz="1100" noProof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CE2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2800" b="1" noProof="0" dirty="0">
                <a:solidFill>
                  <a:srgbClr val="2B20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solución: gestión inteligente y privada</a:t>
            </a:r>
            <a:endParaRPr lang="es-CO" sz="2800" noProof="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300" noProof="0" dirty="0">
                <a:solidFill>
                  <a:srgbClr val="7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 el flujo financiero del teatro desde la firma del contrato hasta la transferencia bancaria — todo dentro de sus propios servidores.</a:t>
            </a:r>
            <a:endParaRPr lang="es-CO" sz="1300" noProof="0" dirty="0"/>
          </a:p>
        </p:txBody>
      </p:sp>
      <p:sp>
        <p:nvSpPr>
          <p:cNvPr id="4" name="Shape 2"/>
          <p:cNvSpPr/>
          <p:nvPr/>
        </p:nvSpPr>
        <p:spPr>
          <a:xfrm>
            <a:off x="2346960" y="2034540"/>
            <a:ext cx="3429000" cy="416052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 noProof="0" dirty="0"/>
          </a:p>
        </p:txBody>
      </p:sp>
      <p:sp>
        <p:nvSpPr>
          <p:cNvPr id="5" name="Shape 3"/>
          <p:cNvSpPr/>
          <p:nvPr/>
        </p:nvSpPr>
        <p:spPr>
          <a:xfrm>
            <a:off x="3649980" y="2400300"/>
            <a:ext cx="822960" cy="822960"/>
          </a:xfrm>
          <a:prstGeom prst="ellipse">
            <a:avLst/>
          </a:prstGeom>
          <a:solidFill>
            <a:srgbClr val="6D2E46"/>
          </a:solidFill>
          <a:ln/>
        </p:spPr>
        <p:txBody>
          <a:bodyPr/>
          <a:lstStyle/>
          <a:p>
            <a:endParaRPr lang="es-CO" noProof="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2004" y="2592324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621280" y="345186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O" sz="1500" b="1" noProof="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 automática de contratos</a:t>
            </a:r>
            <a:endParaRPr lang="es-CO" sz="1500" noProof="0" dirty="0"/>
          </a:p>
        </p:txBody>
      </p:sp>
      <p:sp>
        <p:nvSpPr>
          <p:cNvPr id="8" name="Text 5"/>
          <p:cNvSpPr/>
          <p:nvPr/>
        </p:nvSpPr>
        <p:spPr>
          <a:xfrm>
            <a:off x="2621280" y="418338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O" sz="1150" noProof="0" dirty="0">
                <a:solidFill>
                  <a:srgbClr val="7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IA local comprende cláusulas de pago fijo, porcentaje o garantía mínima y configura las reglas financieras al instante.</a:t>
            </a:r>
            <a:endParaRPr lang="es-CO" sz="1150" noProof="0" dirty="0"/>
          </a:p>
        </p:txBody>
      </p:sp>
      <p:sp>
        <p:nvSpPr>
          <p:cNvPr id="9" name="Shape 6"/>
          <p:cNvSpPr/>
          <p:nvPr/>
        </p:nvSpPr>
        <p:spPr>
          <a:xfrm>
            <a:off x="6096000" y="2034540"/>
            <a:ext cx="3429000" cy="416052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 noProof="0" dirty="0"/>
          </a:p>
        </p:txBody>
      </p:sp>
      <p:sp>
        <p:nvSpPr>
          <p:cNvPr id="10" name="Shape 7"/>
          <p:cNvSpPr/>
          <p:nvPr/>
        </p:nvSpPr>
        <p:spPr>
          <a:xfrm>
            <a:off x="7399020" y="2400300"/>
            <a:ext cx="822960" cy="822960"/>
          </a:xfrm>
          <a:prstGeom prst="ellipse">
            <a:avLst/>
          </a:prstGeom>
          <a:solidFill>
            <a:srgbClr val="6D2E46"/>
          </a:solidFill>
          <a:ln/>
        </p:spPr>
        <p:txBody>
          <a:bodyPr/>
          <a:lstStyle/>
          <a:p>
            <a:endParaRPr lang="es-CO" noProof="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1044" y="2592324"/>
            <a:ext cx="438912" cy="4389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370320" y="345186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O" sz="1500" b="1" noProof="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de taquilla en segundos</a:t>
            </a:r>
            <a:endParaRPr lang="es-CO" sz="1500" noProof="0" dirty="0"/>
          </a:p>
        </p:txBody>
      </p:sp>
      <p:sp>
        <p:nvSpPr>
          <p:cNvPr id="13" name="Text 9"/>
          <p:cNvSpPr/>
          <p:nvPr/>
        </p:nvSpPr>
        <p:spPr>
          <a:xfrm>
            <a:off x="6370320" y="418338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O" sz="1150" noProof="0" dirty="0">
                <a:solidFill>
                  <a:srgbClr val="7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Sube el reporte de tiquetería (</a:t>
            </a:r>
            <a:r>
              <a:rPr lang="es-CO" sz="1150" noProof="0" dirty="0" err="1">
                <a:solidFill>
                  <a:srgbClr val="7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Tuboleta</a:t>
            </a:r>
            <a:r>
              <a:rPr lang="es-CO" sz="1150" noProof="0" dirty="0">
                <a:solidFill>
                  <a:srgbClr val="7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s-CO" sz="1150" noProof="0" dirty="0" err="1">
                <a:solidFill>
                  <a:srgbClr val="7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eTicket</a:t>
            </a:r>
            <a:r>
              <a:rPr lang="es-CO" sz="1150" noProof="0" dirty="0">
                <a:solidFill>
                  <a:srgbClr val="7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y el sistema calcula el neto, aplica retenciones y liquida por artista.</a:t>
            </a:r>
            <a:endParaRPr lang="es-CO" sz="1150" noProof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2800" b="1" noProof="0" dirty="0">
                <a:solidFill>
                  <a:srgbClr val="2B20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hexagonal (</a:t>
            </a:r>
            <a:r>
              <a:rPr lang="es-CO" sz="2800" b="1" noProof="0" dirty="0" err="1">
                <a:solidFill>
                  <a:srgbClr val="2B20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</a:t>
            </a:r>
            <a:r>
              <a:rPr lang="es-CO" sz="2800" b="1" noProof="0" dirty="0">
                <a:solidFill>
                  <a:srgbClr val="2B20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s-CO" sz="2800" b="1" noProof="0" dirty="0" err="1">
                <a:solidFill>
                  <a:srgbClr val="2B20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r>
              <a:rPr lang="es-CO" sz="2800" b="1" noProof="0" dirty="0">
                <a:solidFill>
                  <a:srgbClr val="2B20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</a:t>
            </a:r>
            <a:endParaRPr lang="es-CO" sz="2800" noProof="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300" noProof="0" dirty="0">
                <a:solidFill>
                  <a:srgbClr val="7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dominio no depende de nada externo. La infraestructura implementa los puertos con adaptadores concretos.</a:t>
            </a:r>
            <a:endParaRPr lang="es-CO" sz="1300" noProof="0" dirty="0"/>
          </a:p>
        </p:txBody>
      </p:sp>
      <p:sp>
        <p:nvSpPr>
          <p:cNvPr id="4" name="Shape 2"/>
          <p:cNvSpPr/>
          <p:nvPr/>
        </p:nvSpPr>
        <p:spPr>
          <a:xfrm>
            <a:off x="365760" y="2011680"/>
            <a:ext cx="5852160" cy="3931920"/>
          </a:xfrm>
          <a:prstGeom prst="roundRect">
            <a:avLst>
              <a:gd name="adj" fmla="val 3488"/>
            </a:avLst>
          </a:prstGeom>
          <a:solidFill>
            <a:srgbClr val="F3E9E1"/>
          </a:solidFill>
          <a:ln/>
        </p:spPr>
        <p:txBody>
          <a:bodyPr/>
          <a:lstStyle/>
          <a:p>
            <a:endParaRPr lang="es-CO" noProof="0" dirty="0"/>
          </a:p>
        </p:txBody>
      </p:sp>
      <p:sp>
        <p:nvSpPr>
          <p:cNvPr id="5" name="Shape 3"/>
          <p:cNvSpPr/>
          <p:nvPr/>
        </p:nvSpPr>
        <p:spPr>
          <a:xfrm>
            <a:off x="1188720" y="2560320"/>
            <a:ext cx="4206240" cy="2834640"/>
          </a:xfrm>
          <a:prstGeom prst="roundRect">
            <a:avLst>
              <a:gd name="adj" fmla="val 4839"/>
            </a:avLst>
          </a:prstGeom>
          <a:solidFill>
            <a:srgbClr val="E2C9CE"/>
          </a:solidFill>
          <a:ln/>
        </p:spPr>
        <p:txBody>
          <a:bodyPr/>
          <a:lstStyle/>
          <a:p>
            <a:endParaRPr lang="es-CO" noProof="0" dirty="0"/>
          </a:p>
        </p:txBody>
      </p:sp>
      <p:sp>
        <p:nvSpPr>
          <p:cNvPr id="6" name="Shape 4"/>
          <p:cNvSpPr/>
          <p:nvPr/>
        </p:nvSpPr>
        <p:spPr>
          <a:xfrm>
            <a:off x="2011680" y="3108960"/>
            <a:ext cx="2560320" cy="1737360"/>
          </a:xfrm>
          <a:prstGeom prst="roundRect">
            <a:avLst>
              <a:gd name="adj" fmla="val 7895"/>
            </a:avLst>
          </a:prstGeom>
          <a:solidFill>
            <a:srgbClr val="6D2E46"/>
          </a:solidFill>
          <a:ln/>
        </p:spPr>
        <p:txBody>
          <a:bodyPr/>
          <a:lstStyle/>
          <a:p>
            <a:endParaRPr lang="es-CO" noProof="0" dirty="0"/>
          </a:p>
        </p:txBody>
      </p:sp>
      <p:sp>
        <p:nvSpPr>
          <p:cNvPr id="7" name="Text 5"/>
          <p:cNvSpPr/>
          <p:nvPr/>
        </p:nvSpPr>
        <p:spPr>
          <a:xfrm>
            <a:off x="2011680" y="36850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O" sz="1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DOMINIO</a:t>
            </a:r>
            <a:endParaRPr lang="es-CO" sz="1200" noProof="0" dirty="0"/>
          </a:p>
        </p:txBody>
      </p:sp>
      <p:sp>
        <p:nvSpPr>
          <p:cNvPr id="8" name="Text 6"/>
          <p:cNvSpPr/>
          <p:nvPr/>
        </p:nvSpPr>
        <p:spPr>
          <a:xfrm>
            <a:off x="2011680" y="39593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O" sz="900" noProof="0" dirty="0">
                <a:solidFill>
                  <a:srgbClr val="F3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Entidades y reglas</a:t>
            </a:r>
            <a:endParaRPr lang="es-CO" sz="900" noProof="0" dirty="0"/>
          </a:p>
        </p:txBody>
      </p:sp>
      <p:sp>
        <p:nvSpPr>
          <p:cNvPr id="9" name="Text 7"/>
          <p:cNvSpPr/>
          <p:nvPr/>
        </p:nvSpPr>
        <p:spPr>
          <a:xfrm>
            <a:off x="1188720" y="285292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O" sz="1100" b="1" noProof="0" dirty="0">
                <a:solidFill>
                  <a:srgbClr val="44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— Puertos</a:t>
            </a:r>
            <a:endParaRPr lang="es-CO" sz="1100" noProof="0" dirty="0"/>
          </a:p>
        </p:txBody>
      </p:sp>
      <p:sp>
        <p:nvSpPr>
          <p:cNvPr id="10" name="Text 8"/>
          <p:cNvSpPr/>
          <p:nvPr/>
        </p:nvSpPr>
        <p:spPr>
          <a:xfrm>
            <a:off x="365760" y="2304288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O" sz="1100" b="1" noProof="0" dirty="0">
                <a:solidFill>
                  <a:srgbClr val="44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 — Adaptadores (</a:t>
            </a:r>
            <a:r>
              <a:rPr lang="es-CO" sz="1100" b="1" noProof="0" dirty="0" err="1">
                <a:solidFill>
                  <a:srgbClr val="44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r>
              <a:rPr lang="es-CO" sz="1100" b="1" noProof="0" dirty="0">
                <a:solidFill>
                  <a:srgbClr val="44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Ollama · PDF)</a:t>
            </a:r>
            <a:endParaRPr lang="es-CO" sz="1100" noProof="0" dirty="0"/>
          </a:p>
        </p:txBody>
      </p:sp>
      <p:sp>
        <p:nvSpPr>
          <p:cNvPr id="11" name="Text 9"/>
          <p:cNvSpPr/>
          <p:nvPr/>
        </p:nvSpPr>
        <p:spPr>
          <a:xfrm>
            <a:off x="7406640" y="165309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500" b="1" noProof="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de datos</a:t>
            </a:r>
            <a:endParaRPr lang="es-CO" sz="1500" noProof="0" dirty="0"/>
          </a:p>
        </p:txBody>
      </p:sp>
      <p:sp>
        <p:nvSpPr>
          <p:cNvPr id="12" name="Shape 10"/>
          <p:cNvSpPr/>
          <p:nvPr/>
        </p:nvSpPr>
        <p:spPr>
          <a:xfrm>
            <a:off x="7406640" y="2156016"/>
            <a:ext cx="128016" cy="128016"/>
          </a:xfrm>
          <a:prstGeom prst="ellipse">
            <a:avLst/>
          </a:prstGeom>
          <a:solidFill>
            <a:srgbClr val="C9A15A"/>
          </a:solidFill>
          <a:ln/>
        </p:spPr>
        <p:txBody>
          <a:bodyPr/>
          <a:lstStyle/>
          <a:p>
            <a:endParaRPr lang="es-CO" noProof="0" dirty="0"/>
          </a:p>
        </p:txBody>
      </p:sp>
      <p:sp>
        <p:nvSpPr>
          <p:cNvPr id="13" name="Text 11"/>
          <p:cNvSpPr/>
          <p:nvPr/>
        </p:nvSpPr>
        <p:spPr>
          <a:xfrm>
            <a:off x="7680960" y="203714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100" noProof="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Usuario sube PDF</a:t>
            </a:r>
            <a:endParaRPr lang="es-CO" sz="1100" noProof="0" dirty="0"/>
          </a:p>
        </p:txBody>
      </p:sp>
      <p:sp>
        <p:nvSpPr>
          <p:cNvPr id="14" name="Shape 12"/>
          <p:cNvSpPr/>
          <p:nvPr/>
        </p:nvSpPr>
        <p:spPr>
          <a:xfrm>
            <a:off x="7406640" y="2640648"/>
            <a:ext cx="128016" cy="128016"/>
          </a:xfrm>
          <a:prstGeom prst="ellipse">
            <a:avLst/>
          </a:prstGeom>
          <a:solidFill>
            <a:srgbClr val="C9A15A"/>
          </a:solidFill>
          <a:ln/>
        </p:spPr>
        <p:txBody>
          <a:bodyPr/>
          <a:lstStyle/>
          <a:p>
            <a:endParaRPr lang="es-CO" noProof="0" dirty="0"/>
          </a:p>
        </p:txBody>
      </p:sp>
      <p:sp>
        <p:nvSpPr>
          <p:cNvPr id="15" name="Text 13"/>
          <p:cNvSpPr/>
          <p:nvPr/>
        </p:nvSpPr>
        <p:spPr>
          <a:xfrm>
            <a:off x="7680960" y="252177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100" noProof="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r>
              <a:rPr lang="es-CO" sz="1100" noProof="0" dirty="0" err="1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PDFTextExtractor</a:t>
            </a:r>
            <a:r>
              <a:rPr lang="es-CO" sz="1100" noProof="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extrae el texto (</a:t>
            </a:r>
            <a:r>
              <a:rPr lang="es-CO" sz="1100" noProof="0" dirty="0" err="1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pdfplumber</a:t>
            </a:r>
            <a:r>
              <a:rPr lang="es-CO" sz="1100" noProof="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s-CO" sz="1100" noProof="0" dirty="0"/>
          </a:p>
        </p:txBody>
      </p:sp>
      <p:sp>
        <p:nvSpPr>
          <p:cNvPr id="16" name="Shape 14"/>
          <p:cNvSpPr/>
          <p:nvPr/>
        </p:nvSpPr>
        <p:spPr>
          <a:xfrm>
            <a:off x="7406640" y="3125280"/>
            <a:ext cx="128016" cy="128016"/>
          </a:xfrm>
          <a:prstGeom prst="ellipse">
            <a:avLst/>
          </a:prstGeom>
          <a:solidFill>
            <a:srgbClr val="C9A15A"/>
          </a:solidFill>
          <a:ln/>
        </p:spPr>
        <p:txBody>
          <a:bodyPr/>
          <a:lstStyle/>
          <a:p>
            <a:endParaRPr lang="es-CO" noProof="0" dirty="0"/>
          </a:p>
        </p:txBody>
      </p:sp>
      <p:sp>
        <p:nvSpPr>
          <p:cNvPr id="17" name="Text 15"/>
          <p:cNvSpPr/>
          <p:nvPr/>
        </p:nvSpPr>
        <p:spPr>
          <a:xfrm>
            <a:off x="7680960" y="300640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100" noProof="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r>
              <a:rPr lang="es-CO" sz="1100" noProof="0" dirty="0" err="1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OllamaExtractor</a:t>
            </a:r>
            <a:r>
              <a:rPr lang="es-CO" sz="1100" noProof="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infiere reglas del contrato</a:t>
            </a:r>
            <a:endParaRPr lang="es-CO" sz="1100" noProof="0" dirty="0"/>
          </a:p>
        </p:txBody>
      </p:sp>
      <p:sp>
        <p:nvSpPr>
          <p:cNvPr id="18" name="Shape 16"/>
          <p:cNvSpPr/>
          <p:nvPr/>
        </p:nvSpPr>
        <p:spPr>
          <a:xfrm>
            <a:off x="7406640" y="3609912"/>
            <a:ext cx="128016" cy="128016"/>
          </a:xfrm>
          <a:prstGeom prst="ellipse">
            <a:avLst/>
          </a:prstGeom>
          <a:solidFill>
            <a:srgbClr val="C9A15A"/>
          </a:solidFill>
          <a:ln/>
        </p:spPr>
        <p:txBody>
          <a:bodyPr/>
          <a:lstStyle/>
          <a:p>
            <a:endParaRPr lang="es-CO" noProof="0" dirty="0"/>
          </a:p>
        </p:txBody>
      </p:sp>
      <p:sp>
        <p:nvSpPr>
          <p:cNvPr id="19" name="Text 17"/>
          <p:cNvSpPr/>
          <p:nvPr/>
        </p:nvSpPr>
        <p:spPr>
          <a:xfrm>
            <a:off x="7680960" y="34910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100" noProof="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r>
              <a:rPr lang="es-CO" sz="1100" noProof="0" dirty="0" err="1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PayrollCalculator</a:t>
            </a:r>
            <a:r>
              <a:rPr lang="es-CO" sz="1100" noProof="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calcula bruto / retención / neto</a:t>
            </a:r>
            <a:endParaRPr lang="es-CO" sz="1100" noProof="0" dirty="0"/>
          </a:p>
        </p:txBody>
      </p:sp>
      <p:sp>
        <p:nvSpPr>
          <p:cNvPr id="20" name="Shape 18"/>
          <p:cNvSpPr/>
          <p:nvPr/>
        </p:nvSpPr>
        <p:spPr>
          <a:xfrm>
            <a:off x="7406640" y="4094544"/>
            <a:ext cx="128016" cy="128016"/>
          </a:xfrm>
          <a:prstGeom prst="ellipse">
            <a:avLst/>
          </a:prstGeom>
          <a:solidFill>
            <a:srgbClr val="C9A15A"/>
          </a:solidFill>
          <a:ln/>
        </p:spPr>
        <p:txBody>
          <a:bodyPr/>
          <a:lstStyle/>
          <a:p>
            <a:endParaRPr lang="es-CO" noProof="0" dirty="0"/>
          </a:p>
        </p:txBody>
      </p:sp>
      <p:sp>
        <p:nvSpPr>
          <p:cNvPr id="21" name="Text 19"/>
          <p:cNvSpPr/>
          <p:nvPr/>
        </p:nvSpPr>
        <p:spPr>
          <a:xfrm>
            <a:off x="7680960" y="397567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100" noProof="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</a:t>
            </a:r>
            <a:r>
              <a:rPr lang="es-CO" sz="1100" noProof="0" dirty="0" err="1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InMemoryRepository</a:t>
            </a:r>
            <a:r>
              <a:rPr lang="es-CO" sz="1100" noProof="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guarda el resultado</a:t>
            </a:r>
            <a:endParaRPr lang="es-CO" sz="1100" noProof="0" dirty="0"/>
          </a:p>
        </p:txBody>
      </p:sp>
      <p:sp>
        <p:nvSpPr>
          <p:cNvPr id="22" name="Shape 20"/>
          <p:cNvSpPr/>
          <p:nvPr/>
        </p:nvSpPr>
        <p:spPr>
          <a:xfrm>
            <a:off x="7406640" y="4579176"/>
            <a:ext cx="128016" cy="128016"/>
          </a:xfrm>
          <a:prstGeom prst="ellipse">
            <a:avLst/>
          </a:prstGeom>
          <a:solidFill>
            <a:srgbClr val="C9A15A"/>
          </a:solidFill>
          <a:ln/>
        </p:spPr>
        <p:txBody>
          <a:bodyPr/>
          <a:lstStyle/>
          <a:p>
            <a:endParaRPr lang="es-CO" noProof="0" dirty="0"/>
          </a:p>
        </p:txBody>
      </p:sp>
      <p:sp>
        <p:nvSpPr>
          <p:cNvPr id="23" name="Text 21"/>
          <p:cNvSpPr/>
          <p:nvPr/>
        </p:nvSpPr>
        <p:spPr>
          <a:xfrm>
            <a:off x="7680960" y="446030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100" noProof="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Respuesta JSON al cliente</a:t>
            </a:r>
            <a:endParaRPr lang="es-CO" sz="1100" noProof="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75506F-59B3-B87F-F693-88D8FCC8E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215860F-C746-4A00-CB2A-C469A7871E01}"/>
              </a:ext>
            </a:extLst>
          </p:cNvPr>
          <p:cNvSpPr/>
          <p:nvPr/>
        </p:nvSpPr>
        <p:spPr>
          <a:xfrm>
            <a:off x="640080" y="41148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2800" b="1" noProof="0" dirty="0">
                <a:solidFill>
                  <a:srgbClr val="2B20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Factory </a:t>
            </a:r>
            <a:r>
              <a:rPr lang="es-MX" sz="2800" b="1" noProof="0" dirty="0" err="1">
                <a:solidFill>
                  <a:srgbClr val="2B20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Pattern</a:t>
            </a:r>
            <a:r>
              <a:rPr lang="es-MX" sz="2800" b="1" noProof="0" dirty="0">
                <a:solidFill>
                  <a:srgbClr val="2B20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— Inyección de Dependencias</a:t>
            </a:r>
            <a:endParaRPr lang="es-CO" sz="2800" noProof="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5478C48-0B40-B311-454B-DA3A86A2C992}"/>
              </a:ext>
            </a:extLst>
          </p:cNvPr>
          <p:cNvSpPr/>
          <p:nvPr/>
        </p:nvSpPr>
        <p:spPr>
          <a:xfrm>
            <a:off x="640080" y="100584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1300" noProof="0" dirty="0"/>
              <a:t>El factory.py ensambla las piezas concretas (adaptadores) y las inyecta en el dominio, sin que la lógica de negocio conozca los detalles de implementación.</a:t>
            </a:r>
            <a:endParaRPr lang="es-CO" sz="1300" noProof="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C901075-108A-4CAA-C336-3E4133E446D8}"/>
              </a:ext>
            </a:extLst>
          </p:cNvPr>
          <p:cNvSpPr/>
          <p:nvPr/>
        </p:nvSpPr>
        <p:spPr>
          <a:xfrm>
            <a:off x="365760" y="2011680"/>
            <a:ext cx="5852160" cy="2189930"/>
          </a:xfrm>
          <a:prstGeom prst="roundRect">
            <a:avLst>
              <a:gd name="adj" fmla="val 3488"/>
            </a:avLst>
          </a:prstGeom>
          <a:solidFill>
            <a:srgbClr val="F3E9E1"/>
          </a:solidFill>
          <a:ln/>
        </p:spPr>
        <p:txBody>
          <a:bodyPr/>
          <a:lstStyle/>
          <a:p>
            <a:endParaRPr lang="es-CO" noProof="0" dirty="0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F9E11C66-E701-B4F8-CB21-5BDA647E6F37}"/>
              </a:ext>
            </a:extLst>
          </p:cNvPr>
          <p:cNvSpPr txBox="1"/>
          <p:nvPr/>
        </p:nvSpPr>
        <p:spPr>
          <a:xfrm>
            <a:off x="6736659" y="1618024"/>
            <a:ext cx="5219989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CO" dirty="0">
                <a:latin typeface="Cambria" panose="02040503050406030204" pitchFamily="18" charset="0"/>
                <a:ea typeface="Cambria" panose="02040503050406030204" pitchFamily="18" charset="0"/>
              </a:rPr>
              <a:t>Construye el extractor de IA (</a:t>
            </a:r>
            <a:r>
              <a:rPr lang="es-CO" dirty="0" err="1">
                <a:latin typeface="Cambria" panose="02040503050406030204" pitchFamily="18" charset="0"/>
                <a:ea typeface="Cambria" panose="02040503050406030204" pitchFamily="18" charset="0"/>
              </a:rPr>
              <a:t>OllamaExtractor</a:t>
            </a:r>
            <a:r>
              <a:rPr lang="es-CO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</a:p>
          <a:p>
            <a:pPr>
              <a:buFont typeface="Arial" panose="020B0604020202020204" pitchFamily="34" charset="0"/>
              <a:buChar char="•"/>
            </a:pPr>
            <a:endParaRPr lang="es-CO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CO" dirty="0">
                <a:latin typeface="Cambria" panose="02040503050406030204" pitchFamily="18" charset="0"/>
                <a:ea typeface="Cambria" panose="02040503050406030204" pitchFamily="18" charset="0"/>
              </a:rPr>
              <a:t>Construye el repositorio (</a:t>
            </a:r>
            <a:r>
              <a:rPr lang="es-CO" dirty="0" err="1">
                <a:latin typeface="Cambria" panose="02040503050406030204" pitchFamily="18" charset="0"/>
                <a:ea typeface="Cambria" panose="02040503050406030204" pitchFamily="18" charset="0"/>
              </a:rPr>
              <a:t>InMemoryRepository</a:t>
            </a:r>
            <a:r>
              <a:rPr lang="es-CO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</a:p>
          <a:p>
            <a:pPr>
              <a:buFont typeface="Arial" panose="020B0604020202020204" pitchFamily="34" charset="0"/>
              <a:buChar char="•"/>
            </a:pPr>
            <a:endParaRPr lang="es-CO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CO" dirty="0">
                <a:latin typeface="Cambria" panose="02040503050406030204" pitchFamily="18" charset="0"/>
                <a:ea typeface="Cambria" panose="02040503050406030204" pitchFamily="18" charset="0"/>
              </a:rPr>
              <a:t>Inyecta la tasa de retención desde </a:t>
            </a:r>
            <a:r>
              <a:rPr lang="es-CO" dirty="0" err="1">
                <a:latin typeface="Cambria" panose="02040503050406030204" pitchFamily="18" charset="0"/>
                <a:ea typeface="Cambria" panose="02040503050406030204" pitchFamily="18" charset="0"/>
              </a:rPr>
              <a:t>settings</a:t>
            </a:r>
            <a:r>
              <a:rPr lang="es-CO" dirty="0">
                <a:latin typeface="Cambria" panose="02040503050406030204" pitchFamily="18" charset="0"/>
                <a:ea typeface="Cambria" panose="02040503050406030204" pitchFamily="18" charset="0"/>
              </a:rPr>
              <a:t> (configuración centralizada)</a:t>
            </a:r>
          </a:p>
          <a:p>
            <a:pPr>
              <a:buFont typeface="Arial" panose="020B0604020202020204" pitchFamily="34" charset="0"/>
              <a:buChar char="•"/>
            </a:pPr>
            <a:endParaRPr lang="es-CO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CO" dirty="0">
                <a:latin typeface="Cambria" panose="02040503050406030204" pitchFamily="18" charset="0"/>
                <a:ea typeface="Cambria" panose="02040503050406030204" pitchFamily="18" charset="0"/>
              </a:rPr>
              <a:t>Devuelve un </a:t>
            </a:r>
            <a:r>
              <a:rPr lang="es-CO" dirty="0" err="1">
                <a:latin typeface="Cambria" panose="02040503050406030204" pitchFamily="18" charset="0"/>
                <a:ea typeface="Cambria" panose="02040503050406030204" pitchFamily="18" charset="0"/>
              </a:rPr>
              <a:t>PayrollCalculator</a:t>
            </a:r>
            <a:r>
              <a:rPr lang="es-CO" dirty="0">
                <a:latin typeface="Cambria" panose="02040503050406030204" pitchFamily="18" charset="0"/>
                <a:ea typeface="Cambria" panose="02040503050406030204" pitchFamily="18" charset="0"/>
              </a:rPr>
              <a:t> completamente ensamblado y listo para usa</a:t>
            </a: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AB323D25-7CF3-3D93-47AC-E18B247F7DD8}"/>
              </a:ext>
            </a:extLst>
          </p:cNvPr>
          <p:cNvSpPr txBox="1"/>
          <p:nvPr/>
        </p:nvSpPr>
        <p:spPr>
          <a:xfrm>
            <a:off x="559636" y="5528994"/>
            <a:ext cx="113165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>
                <a:solidFill>
                  <a:schemeClr val="bg1">
                    <a:lumMod val="65000"/>
                  </a:schemeClr>
                </a:solidFill>
              </a:rPr>
              <a:t>Beneficio clave (para el pie de la diapositiva o </a:t>
            </a:r>
            <a:r>
              <a:rPr lang="es-MX" dirty="0" err="1">
                <a:solidFill>
                  <a:schemeClr val="bg1">
                    <a:lumMod val="65000"/>
                  </a:schemeClr>
                </a:solidFill>
              </a:rPr>
              <a:t>callout</a:t>
            </a:r>
            <a:r>
              <a:rPr lang="es-MX" dirty="0">
                <a:solidFill>
                  <a:schemeClr val="bg1">
                    <a:lumMod val="65000"/>
                  </a:schemeClr>
                </a:solidFill>
              </a:rPr>
              <a:t>):Cambiar de Ollama a otro motor de IA, o de memoria a PostgreSQL, solo requiere modificar el </a:t>
            </a:r>
            <a:r>
              <a:rPr lang="es-MX" dirty="0" err="1">
                <a:solidFill>
                  <a:schemeClr val="bg1">
                    <a:lumMod val="65000"/>
                  </a:schemeClr>
                </a:solidFill>
              </a:rPr>
              <a:t>factory</a:t>
            </a:r>
            <a:r>
              <a:rPr lang="es-MX" dirty="0">
                <a:solidFill>
                  <a:schemeClr val="bg1">
                    <a:lumMod val="65000"/>
                  </a:schemeClr>
                </a:solidFill>
              </a:rPr>
              <a:t> — el dominio y la lógica de negocio permanecen intactos.</a:t>
            </a:r>
            <a:endParaRPr lang="es-CO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35" name="Imagen 34">
            <a:extLst>
              <a:ext uri="{FF2B5EF4-FFF2-40B4-BE49-F238E27FC236}">
                <a16:creationId xmlns:a16="http://schemas.microsoft.com/office/drawing/2014/main" id="{7F9AD7DF-A64B-0D82-4EC1-B3D87FB439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396" y="2254990"/>
            <a:ext cx="4903884" cy="1599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8551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41C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30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 tecnológico</a:t>
            </a:r>
            <a:endParaRPr lang="es-CO" sz="3000" noProof="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300" noProof="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operacional cero: 100% open-</a:t>
            </a:r>
            <a:r>
              <a:rPr lang="es-CO" sz="1300" noProof="0" dirty="0" err="1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r>
              <a:rPr lang="es-CO" sz="1300" noProof="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ejecutado </a:t>
            </a:r>
            <a:r>
              <a:rPr lang="es-CO" sz="1300" noProof="0" dirty="0" err="1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</a:t>
            </a:r>
            <a:r>
              <a:rPr lang="es-CO" sz="1300" noProof="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-premise.</a:t>
            </a:r>
            <a:endParaRPr lang="es-CO" sz="1300" noProof="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520440" cy="2011680"/>
          </a:xfrm>
          <a:prstGeom prst="roundRect">
            <a:avLst>
              <a:gd name="adj" fmla="val 4545"/>
            </a:avLst>
          </a:prstGeom>
          <a:solidFill>
            <a:srgbClr val="6D2E46"/>
          </a:solidFill>
          <a:ln/>
        </p:spPr>
        <p:txBody>
          <a:bodyPr/>
          <a:lstStyle/>
          <a:p>
            <a:endParaRPr lang="es-CO" noProof="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2130552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96112" y="27432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500" b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s-CO" sz="1500" noProof="0" dirty="0"/>
          </a:p>
        </p:txBody>
      </p:sp>
      <p:sp>
        <p:nvSpPr>
          <p:cNvPr id="7" name="Text 4"/>
          <p:cNvSpPr/>
          <p:nvPr/>
        </p:nvSpPr>
        <p:spPr>
          <a:xfrm>
            <a:off x="896112" y="3136392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200" noProof="0" dirty="0" err="1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r>
              <a:rPr lang="es-CO" sz="1200" noProof="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Python 3.11</a:t>
            </a:r>
            <a:endParaRPr lang="es-CO" sz="1200" noProof="0" dirty="0"/>
          </a:p>
        </p:txBody>
      </p:sp>
      <p:sp>
        <p:nvSpPr>
          <p:cNvPr id="8" name="Shape 5"/>
          <p:cNvSpPr/>
          <p:nvPr/>
        </p:nvSpPr>
        <p:spPr>
          <a:xfrm>
            <a:off x="4434840" y="1874520"/>
            <a:ext cx="3520440" cy="2011680"/>
          </a:xfrm>
          <a:prstGeom prst="roundRect">
            <a:avLst>
              <a:gd name="adj" fmla="val 4545"/>
            </a:avLst>
          </a:prstGeom>
          <a:solidFill>
            <a:srgbClr val="6D2E46"/>
          </a:solidFill>
          <a:ln/>
        </p:spPr>
        <p:txBody>
          <a:bodyPr/>
          <a:lstStyle/>
          <a:p>
            <a:endParaRPr lang="es-CO" noProof="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0872" y="2130552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90872" y="27432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5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Local</a:t>
            </a:r>
            <a:endParaRPr lang="es-CO" sz="1500" noProof="0" dirty="0"/>
          </a:p>
        </p:txBody>
      </p:sp>
      <p:sp>
        <p:nvSpPr>
          <p:cNvPr id="11" name="Text 7"/>
          <p:cNvSpPr/>
          <p:nvPr/>
        </p:nvSpPr>
        <p:spPr>
          <a:xfrm>
            <a:off x="4690872" y="3136392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200" noProof="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+ Llama 3.1 8B</a:t>
            </a:r>
            <a:endParaRPr lang="es-CO" sz="1200" noProof="0" dirty="0"/>
          </a:p>
        </p:txBody>
      </p:sp>
      <p:sp>
        <p:nvSpPr>
          <p:cNvPr id="12" name="Shape 8"/>
          <p:cNvSpPr/>
          <p:nvPr/>
        </p:nvSpPr>
        <p:spPr>
          <a:xfrm>
            <a:off x="8229600" y="1874520"/>
            <a:ext cx="3520440" cy="2011680"/>
          </a:xfrm>
          <a:prstGeom prst="roundRect">
            <a:avLst>
              <a:gd name="adj" fmla="val 4545"/>
            </a:avLst>
          </a:prstGeom>
          <a:solidFill>
            <a:srgbClr val="6D2E46"/>
          </a:solidFill>
          <a:ln/>
        </p:spPr>
        <p:txBody>
          <a:bodyPr/>
          <a:lstStyle/>
          <a:p>
            <a:endParaRPr lang="es-CO" noProof="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5632" y="2130552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485632" y="27432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5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</a:t>
            </a:r>
            <a:endParaRPr lang="es-CO" sz="1500" noProof="0" dirty="0"/>
          </a:p>
        </p:txBody>
      </p:sp>
      <p:sp>
        <p:nvSpPr>
          <p:cNvPr id="15" name="Text 10"/>
          <p:cNvSpPr/>
          <p:nvPr/>
        </p:nvSpPr>
        <p:spPr>
          <a:xfrm>
            <a:off x="8485632" y="3136392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200" noProof="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Hexagonal (</a:t>
            </a:r>
            <a:r>
              <a:rPr lang="es-CO" sz="1200" noProof="0" dirty="0" err="1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r>
              <a:rPr lang="es-CO" sz="1200" noProof="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CO" sz="1200" noProof="0" dirty="0" err="1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r>
              <a:rPr lang="es-CO" sz="1200" noProof="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s-CO" sz="1200" noProof="0" dirty="0"/>
          </a:p>
        </p:txBody>
      </p:sp>
      <p:sp>
        <p:nvSpPr>
          <p:cNvPr id="16" name="Shape 11"/>
          <p:cNvSpPr/>
          <p:nvPr/>
        </p:nvSpPr>
        <p:spPr>
          <a:xfrm>
            <a:off x="640080" y="4206240"/>
            <a:ext cx="3520440" cy="2011680"/>
          </a:xfrm>
          <a:prstGeom prst="roundRect">
            <a:avLst>
              <a:gd name="adj" fmla="val 4545"/>
            </a:avLst>
          </a:prstGeom>
          <a:solidFill>
            <a:srgbClr val="6D2E46"/>
          </a:solidFill>
          <a:ln/>
        </p:spPr>
        <p:txBody>
          <a:bodyPr/>
          <a:lstStyle/>
          <a:p>
            <a:endParaRPr lang="es-CO" noProof="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6112" y="4462272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96112" y="50749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5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Procesamiento PDF</a:t>
            </a:r>
            <a:endParaRPr lang="es-CO" sz="1500" noProof="0" dirty="0"/>
          </a:p>
        </p:txBody>
      </p:sp>
      <p:sp>
        <p:nvSpPr>
          <p:cNvPr id="19" name="Text 13"/>
          <p:cNvSpPr/>
          <p:nvPr/>
        </p:nvSpPr>
        <p:spPr>
          <a:xfrm>
            <a:off x="896112" y="5468112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200" noProof="0" dirty="0" err="1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pdfplumber</a:t>
            </a:r>
            <a:endParaRPr lang="es-CO" sz="1200" noProof="0" dirty="0"/>
          </a:p>
        </p:txBody>
      </p:sp>
      <p:sp>
        <p:nvSpPr>
          <p:cNvPr id="20" name="Shape 14"/>
          <p:cNvSpPr/>
          <p:nvPr/>
        </p:nvSpPr>
        <p:spPr>
          <a:xfrm>
            <a:off x="4434840" y="4206240"/>
            <a:ext cx="3520440" cy="2011680"/>
          </a:xfrm>
          <a:prstGeom prst="roundRect">
            <a:avLst>
              <a:gd name="adj" fmla="val 4545"/>
            </a:avLst>
          </a:prstGeom>
          <a:solidFill>
            <a:srgbClr val="6D2E46"/>
          </a:solidFill>
          <a:ln/>
        </p:spPr>
        <p:txBody>
          <a:bodyPr/>
          <a:lstStyle/>
          <a:p>
            <a:endParaRPr lang="es-CO" noProof="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90872" y="4462272"/>
            <a:ext cx="457200" cy="4572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690872" y="50749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5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API</a:t>
            </a:r>
            <a:endParaRPr lang="es-CO" sz="1500" noProof="0" dirty="0"/>
          </a:p>
        </p:txBody>
      </p:sp>
      <p:sp>
        <p:nvSpPr>
          <p:cNvPr id="23" name="Text 16"/>
          <p:cNvSpPr/>
          <p:nvPr/>
        </p:nvSpPr>
        <p:spPr>
          <a:xfrm>
            <a:off x="4690872" y="5468112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200" noProof="0" dirty="0" err="1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OpenAPI</a:t>
            </a:r>
            <a:r>
              <a:rPr lang="es-CO" sz="1200" noProof="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Swagger + </a:t>
            </a:r>
            <a:r>
              <a:rPr lang="es-CO" sz="1200" noProof="0" dirty="0" err="1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Redoc</a:t>
            </a:r>
            <a:endParaRPr lang="es-CO" sz="1200" noProof="0" dirty="0"/>
          </a:p>
        </p:txBody>
      </p:sp>
      <p:sp>
        <p:nvSpPr>
          <p:cNvPr id="24" name="Shape 17"/>
          <p:cNvSpPr/>
          <p:nvPr/>
        </p:nvSpPr>
        <p:spPr>
          <a:xfrm>
            <a:off x="8229600" y="4206240"/>
            <a:ext cx="3520440" cy="2011680"/>
          </a:xfrm>
          <a:prstGeom prst="roundRect">
            <a:avLst>
              <a:gd name="adj" fmla="val 4545"/>
            </a:avLst>
          </a:prstGeom>
          <a:solidFill>
            <a:srgbClr val="6D2E46"/>
          </a:solidFill>
          <a:ln/>
        </p:spPr>
        <p:txBody>
          <a:bodyPr/>
          <a:lstStyle/>
          <a:p>
            <a:endParaRPr lang="es-CO" noProof="0" dirty="0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85632" y="4462272"/>
            <a:ext cx="457200" cy="4572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8485632" y="50749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5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 fiscal</a:t>
            </a:r>
            <a:endParaRPr lang="es-CO" sz="1500" noProof="0" dirty="0"/>
          </a:p>
        </p:txBody>
      </p:sp>
      <p:sp>
        <p:nvSpPr>
          <p:cNvPr id="27" name="Text 19"/>
          <p:cNvSpPr/>
          <p:nvPr/>
        </p:nvSpPr>
        <p:spPr>
          <a:xfrm>
            <a:off x="8485632" y="5468112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200" noProof="0" dirty="0" err="1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ReteFuente</a:t>
            </a:r>
            <a:r>
              <a:rPr lang="es-CO" sz="1200" noProof="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11% (normativa CO)</a:t>
            </a:r>
            <a:endParaRPr lang="es-CO" sz="1200" noProof="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2800" b="1" noProof="0" dirty="0" err="1">
                <a:solidFill>
                  <a:srgbClr val="2B20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Endpoints</a:t>
            </a:r>
            <a:r>
              <a:rPr lang="es-CO" sz="2800" b="1" noProof="0" dirty="0">
                <a:solidFill>
                  <a:srgbClr val="2B20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Swagger UI: http://localhost:8000/docs</a:t>
            </a:r>
            <a:endParaRPr lang="es-CO" sz="2800" noProof="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300" noProof="0" dirty="0">
                <a:solidFill>
                  <a:srgbClr val="7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documentada con </a:t>
            </a:r>
            <a:r>
              <a:rPr lang="es-CO" sz="1300" noProof="0" dirty="0" err="1">
                <a:solidFill>
                  <a:srgbClr val="7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OpenAPI</a:t>
            </a:r>
            <a:r>
              <a:rPr lang="es-CO" sz="1300" noProof="0" dirty="0">
                <a:solidFill>
                  <a:srgbClr val="7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(Swagger UI en /</a:t>
            </a:r>
            <a:r>
              <a:rPr lang="es-CO" sz="1300" noProof="0" dirty="0" err="1">
                <a:solidFill>
                  <a:srgbClr val="7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</a:t>
            </a:r>
            <a:r>
              <a:rPr lang="es-CO" sz="1300" noProof="0" dirty="0">
                <a:solidFill>
                  <a:srgbClr val="7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s-CO" sz="1300" noProof="0" dirty="0" err="1">
                <a:solidFill>
                  <a:srgbClr val="7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Redoc</a:t>
            </a:r>
            <a:r>
              <a:rPr lang="es-CO" sz="1300" noProof="0" dirty="0">
                <a:solidFill>
                  <a:srgbClr val="7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/</a:t>
            </a:r>
            <a:r>
              <a:rPr lang="es-CO" sz="1300" noProof="0" dirty="0" err="1">
                <a:solidFill>
                  <a:srgbClr val="7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redoc</a:t>
            </a:r>
            <a:r>
              <a:rPr lang="es-CO" sz="1300" noProof="0" dirty="0">
                <a:solidFill>
                  <a:srgbClr val="7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  <a:endParaRPr lang="es-CO" sz="1300" noProof="0" dirty="0"/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4C04078B-D42E-4838-9433-C1712C06A7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964075"/>
            <a:ext cx="10241280" cy="345959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F277A7-122C-CA67-815C-32BCF7C66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49D5DC8-2890-319E-7A94-6A01C615CC04}"/>
              </a:ext>
            </a:extLst>
          </p:cNvPr>
          <p:cNvSpPr/>
          <p:nvPr/>
        </p:nvSpPr>
        <p:spPr>
          <a:xfrm>
            <a:off x="640080" y="45720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2800" b="1" noProof="0" dirty="0" err="1">
                <a:solidFill>
                  <a:srgbClr val="2B20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Endpoints</a:t>
            </a:r>
            <a:r>
              <a:rPr lang="es-CO" sz="2800" b="1" noProof="0" dirty="0">
                <a:solidFill>
                  <a:srgbClr val="2B20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principales</a:t>
            </a:r>
            <a:endParaRPr lang="es-CO" sz="2800" noProof="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E13A3F6-639C-A932-E6BE-2BB1588E5069}"/>
              </a:ext>
            </a:extLst>
          </p:cNvPr>
          <p:cNvSpPr/>
          <p:nvPr/>
        </p:nvSpPr>
        <p:spPr>
          <a:xfrm>
            <a:off x="640080" y="10515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300" noProof="0" dirty="0">
                <a:solidFill>
                  <a:srgbClr val="7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documentada con </a:t>
            </a:r>
            <a:r>
              <a:rPr lang="es-CO" sz="1300" noProof="0" dirty="0" err="1">
                <a:solidFill>
                  <a:srgbClr val="7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OpenAPI</a:t>
            </a:r>
            <a:r>
              <a:rPr lang="es-CO" sz="1300" noProof="0" dirty="0">
                <a:solidFill>
                  <a:srgbClr val="7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(Swagger UI en /</a:t>
            </a:r>
            <a:r>
              <a:rPr lang="es-CO" sz="1300" noProof="0" dirty="0" err="1">
                <a:solidFill>
                  <a:srgbClr val="7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</a:t>
            </a:r>
            <a:r>
              <a:rPr lang="es-CO" sz="1300" noProof="0" dirty="0">
                <a:solidFill>
                  <a:srgbClr val="7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s-CO" sz="1300" noProof="0" dirty="0" err="1">
                <a:solidFill>
                  <a:srgbClr val="7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Redoc</a:t>
            </a:r>
            <a:r>
              <a:rPr lang="es-CO" sz="1300" noProof="0" dirty="0">
                <a:solidFill>
                  <a:srgbClr val="7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/</a:t>
            </a:r>
            <a:r>
              <a:rPr lang="es-CO" sz="1300" noProof="0" dirty="0" err="1">
                <a:solidFill>
                  <a:srgbClr val="7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redoc</a:t>
            </a:r>
            <a:r>
              <a:rPr lang="es-CO" sz="1300" noProof="0" dirty="0">
                <a:solidFill>
                  <a:srgbClr val="7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  <a:endParaRPr lang="es-CO" sz="1300" noProof="0" dirty="0"/>
          </a:p>
        </p:txBody>
      </p:sp>
      <p:graphicFrame>
        <p:nvGraphicFramePr>
          <p:cNvPr id="7" name="Table 0">
            <a:extLst>
              <a:ext uri="{FF2B5EF4-FFF2-40B4-BE49-F238E27FC236}">
                <a16:creationId xmlns:a16="http://schemas.microsoft.com/office/drawing/2014/main" id="{9B818984-7B74-202A-031D-DE49E6A915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3091705"/>
              </p:ext>
            </p:extLst>
          </p:nvPr>
        </p:nvGraphicFramePr>
        <p:xfrm>
          <a:off x="640080" y="1691640"/>
          <a:ext cx="10881360" cy="173736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CO" sz="125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Método</a:t>
                      </a:r>
                      <a:endParaRPr lang="es-CO" sz="12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CO" sz="1250" b="1" noProof="0" dirty="0" err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Endpoint</a:t>
                      </a:r>
                      <a:endParaRPr lang="es-CO" sz="12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CO" sz="125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Descripción</a:t>
                      </a:r>
                      <a:endParaRPr lang="es-CO" sz="12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CO" sz="1250" noProof="0" dirty="0">
                          <a:solidFill>
                            <a:srgbClr val="2B2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s-CO" sz="12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CO" sz="1250" noProof="0" dirty="0">
                          <a:solidFill>
                            <a:srgbClr val="2B2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/api/v1/</a:t>
                      </a:r>
                      <a:r>
                        <a:rPr lang="es-CO" sz="1250" noProof="0" dirty="0" err="1">
                          <a:solidFill>
                            <a:srgbClr val="2B2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payroll</a:t>
                      </a:r>
                      <a:r>
                        <a:rPr lang="es-CO" sz="1250" noProof="0" dirty="0">
                          <a:solidFill>
                            <a:srgbClr val="2B2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</a:t>
                      </a:r>
                      <a:r>
                        <a:rPr lang="es-CO" sz="1250" noProof="0" dirty="0" err="1">
                          <a:solidFill>
                            <a:srgbClr val="2B2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calculate</a:t>
                      </a:r>
                      <a:endParaRPr lang="es-CO" sz="12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CO" sz="1250" noProof="0" dirty="0">
                          <a:solidFill>
                            <a:srgbClr val="2B2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Liquidación de nómina desde texto plano</a:t>
                      </a:r>
                      <a:endParaRPr lang="es-CO" sz="12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CO" sz="1250" noProof="0" dirty="0">
                          <a:solidFill>
                            <a:srgbClr val="2B2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s-CO" sz="12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CO" sz="1250" noProof="0" dirty="0">
                          <a:solidFill>
                            <a:srgbClr val="2B2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/api/v1/</a:t>
                      </a:r>
                      <a:r>
                        <a:rPr lang="es-CO" sz="1250" noProof="0" dirty="0" err="1">
                          <a:solidFill>
                            <a:srgbClr val="2B2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payroll</a:t>
                      </a:r>
                      <a:r>
                        <a:rPr lang="es-CO" sz="1250" noProof="0" dirty="0">
                          <a:solidFill>
                            <a:srgbClr val="2B2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</a:t>
                      </a:r>
                      <a:r>
                        <a:rPr lang="es-CO" sz="1250" noProof="0" dirty="0" err="1">
                          <a:solidFill>
                            <a:srgbClr val="2B2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calculate-from-pdf</a:t>
                      </a:r>
                      <a:endParaRPr lang="es-CO" sz="12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CO" sz="1250" noProof="0" dirty="0">
                          <a:solidFill>
                            <a:srgbClr val="2B2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Liquidación de nómina extrayendo datos directo del PDF del contrato</a:t>
                      </a:r>
                      <a:endParaRPr lang="es-CO" sz="12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CO" sz="1250" noProof="0" dirty="0">
                          <a:solidFill>
                            <a:srgbClr val="2B2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s-CO" sz="12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CO" sz="1250" noProof="0" dirty="0">
                          <a:solidFill>
                            <a:srgbClr val="2B2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</a:t>
                      </a:r>
                      <a:r>
                        <a:rPr lang="es-CO" sz="1250" noProof="0" dirty="0" err="1">
                          <a:solidFill>
                            <a:srgbClr val="2B2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</a:t>
                      </a:r>
                      <a:endParaRPr lang="es-CO" sz="12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CO" sz="1250" noProof="0" dirty="0">
                          <a:solidFill>
                            <a:srgbClr val="2B2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 </a:t>
                      </a:r>
                      <a:r>
                        <a:rPr lang="es-CO" sz="1250" noProof="0" dirty="0" err="1">
                          <a:solidFill>
                            <a:srgbClr val="2B2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</a:t>
                      </a:r>
                      <a:r>
                        <a:rPr lang="es-CO" sz="1250" noProof="0" dirty="0">
                          <a:solidFill>
                            <a:srgbClr val="2B2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del servicio</a:t>
                      </a:r>
                      <a:endParaRPr lang="es-CO" sz="12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>
            <a:extLst>
              <a:ext uri="{FF2B5EF4-FFF2-40B4-BE49-F238E27FC236}">
                <a16:creationId xmlns:a16="http://schemas.microsoft.com/office/drawing/2014/main" id="{05C85132-7FA5-7E7F-CA27-E399DF0C4EDA}"/>
              </a:ext>
            </a:extLst>
          </p:cNvPr>
          <p:cNvSpPr/>
          <p:nvPr/>
        </p:nvSpPr>
        <p:spPr>
          <a:xfrm>
            <a:off x="640080" y="3749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400" b="1" noProof="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de respuesta — /</a:t>
            </a:r>
            <a:r>
              <a:rPr lang="es-CO" sz="1400" b="1" noProof="0" dirty="0" err="1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calculate-from-pdf</a:t>
            </a:r>
            <a:endParaRPr lang="es-CO" sz="1400" noProof="0" dirty="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D28F0CF0-FC4E-04EC-5AF2-9AD952AC286C}"/>
              </a:ext>
            </a:extLst>
          </p:cNvPr>
          <p:cNvSpPr/>
          <p:nvPr/>
        </p:nvSpPr>
        <p:spPr>
          <a:xfrm>
            <a:off x="640080" y="4160520"/>
            <a:ext cx="6492240" cy="2148840"/>
          </a:xfrm>
          <a:prstGeom prst="roundRect">
            <a:avLst>
              <a:gd name="adj" fmla="val 3404"/>
            </a:avLst>
          </a:prstGeom>
          <a:solidFill>
            <a:srgbClr val="231B1E"/>
          </a:solidFill>
          <a:ln/>
        </p:spPr>
        <p:txBody>
          <a:bodyPr/>
          <a:lstStyle/>
          <a:p>
            <a:endParaRPr lang="es-CO" noProof="0" dirty="0"/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FCD017AC-808B-7224-A391-DD8A84A82FEE}"/>
              </a:ext>
            </a:extLst>
          </p:cNvPr>
          <p:cNvSpPr/>
          <p:nvPr/>
        </p:nvSpPr>
        <p:spPr>
          <a:xfrm>
            <a:off x="868680" y="4315968"/>
            <a:ext cx="60350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150" noProof="0" dirty="0">
                <a:solidFill>
                  <a:srgbClr val="9E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s-CO" sz="1150" noProof="0" dirty="0"/>
          </a:p>
          <a:p>
            <a:pPr marL="0" indent="0">
              <a:buNone/>
            </a:pPr>
            <a:r>
              <a:rPr lang="es-CO" sz="1150" noProof="0" dirty="0">
                <a:solidFill>
                  <a:srgbClr val="9E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"actor": "Carlos Pérez",</a:t>
            </a:r>
            <a:endParaRPr lang="es-CO" sz="1150" noProof="0" dirty="0"/>
          </a:p>
          <a:p>
            <a:pPr marL="0" indent="0">
              <a:buNone/>
            </a:pPr>
            <a:r>
              <a:rPr lang="es-CO" sz="1150" noProof="0" dirty="0">
                <a:solidFill>
                  <a:srgbClr val="9E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</a:t>
            </a:r>
            <a:r>
              <a:rPr lang="es-CO" sz="1150" noProof="0" dirty="0" err="1">
                <a:solidFill>
                  <a:srgbClr val="9E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gross</a:t>
            </a:r>
            <a:r>
              <a:rPr lang="es-CO" sz="1150" noProof="0" dirty="0">
                <a:solidFill>
                  <a:srgbClr val="9E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": 1500000.0,</a:t>
            </a:r>
            <a:endParaRPr lang="es-CO" sz="1150" noProof="0" dirty="0"/>
          </a:p>
          <a:p>
            <a:pPr marL="0" indent="0">
              <a:buNone/>
            </a:pPr>
            <a:r>
              <a:rPr lang="es-CO" sz="1150" noProof="0" dirty="0">
                <a:solidFill>
                  <a:srgbClr val="9E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</a:t>
            </a:r>
            <a:r>
              <a:rPr lang="es-CO" sz="1150" noProof="0" dirty="0" err="1">
                <a:solidFill>
                  <a:srgbClr val="9E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deductions</a:t>
            </a:r>
            <a:r>
              <a:rPr lang="es-CO" sz="1150" noProof="0" dirty="0">
                <a:solidFill>
                  <a:srgbClr val="9E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": 165000.0,</a:t>
            </a:r>
            <a:endParaRPr lang="es-CO" sz="1150" noProof="0" dirty="0"/>
          </a:p>
          <a:p>
            <a:pPr marL="0" indent="0">
              <a:buNone/>
            </a:pPr>
            <a:r>
              <a:rPr lang="es-CO" sz="1150" noProof="0" dirty="0">
                <a:solidFill>
                  <a:srgbClr val="9E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"net": 1335000.0,</a:t>
            </a:r>
            <a:endParaRPr lang="es-CO" sz="1150" noProof="0" dirty="0"/>
          </a:p>
          <a:p>
            <a:pPr marL="0" indent="0">
              <a:buNone/>
            </a:pPr>
            <a:r>
              <a:rPr lang="es-CO" sz="1150" noProof="0" dirty="0">
                <a:solidFill>
                  <a:srgbClr val="9E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"concept": "15.0% de taquilla (10,000,000 COP)"</a:t>
            </a:r>
            <a:endParaRPr lang="es-CO" sz="1150" noProof="0" dirty="0"/>
          </a:p>
          <a:p>
            <a:pPr marL="0" indent="0">
              <a:buNone/>
            </a:pPr>
            <a:r>
              <a:rPr lang="es-CO" sz="1150" noProof="0" dirty="0">
                <a:solidFill>
                  <a:srgbClr val="9E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s-CO" sz="1150" noProof="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08DD7BC9-CDC0-264C-DCCE-AC08FE273739}"/>
              </a:ext>
            </a:extLst>
          </p:cNvPr>
          <p:cNvSpPr/>
          <p:nvPr/>
        </p:nvSpPr>
        <p:spPr>
          <a:xfrm>
            <a:off x="7452360" y="37490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400" b="1" noProof="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 comunes</a:t>
            </a:r>
            <a:endParaRPr lang="es-CO" sz="1400" noProof="0" dirty="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54F413A0-5545-F1E8-B22E-554C70ACD27E}"/>
              </a:ext>
            </a:extLst>
          </p:cNvPr>
          <p:cNvSpPr/>
          <p:nvPr/>
        </p:nvSpPr>
        <p:spPr>
          <a:xfrm>
            <a:off x="7452360" y="4206240"/>
            <a:ext cx="4023360" cy="868680"/>
          </a:xfrm>
          <a:prstGeom prst="roundRect">
            <a:avLst>
              <a:gd name="adj" fmla="val 8421"/>
            </a:avLst>
          </a:prstGeom>
          <a:solidFill>
            <a:srgbClr val="FAF6F3"/>
          </a:solidFill>
          <a:ln/>
        </p:spPr>
        <p:txBody>
          <a:bodyPr/>
          <a:lstStyle/>
          <a:p>
            <a:endParaRPr lang="es-CO" noProof="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5A03AE36-0EAC-4421-C962-221AC36E056D}"/>
              </a:ext>
            </a:extLst>
          </p:cNvPr>
          <p:cNvSpPr/>
          <p:nvPr/>
        </p:nvSpPr>
        <p:spPr>
          <a:xfrm>
            <a:off x="7635240" y="4315968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O" sz="2000" b="1" noProof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</a:t>
            </a:r>
            <a:endParaRPr lang="es-CO" sz="2000" noProof="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7207D478-203B-FDA4-1E1D-DDD4FA1BB9BC}"/>
              </a:ext>
            </a:extLst>
          </p:cNvPr>
          <p:cNvSpPr/>
          <p:nvPr/>
        </p:nvSpPr>
        <p:spPr>
          <a:xfrm>
            <a:off x="8503920" y="434340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100" noProof="0" dirty="0">
                <a:solidFill>
                  <a:srgbClr val="7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archivo no es PDF o no contiene texto legible.</a:t>
            </a:r>
            <a:endParaRPr lang="es-CO" sz="1100" noProof="0" dirty="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63BF9CBC-5D75-BC9E-BF14-ADCD45184724}"/>
              </a:ext>
            </a:extLst>
          </p:cNvPr>
          <p:cNvSpPr/>
          <p:nvPr/>
        </p:nvSpPr>
        <p:spPr>
          <a:xfrm>
            <a:off x="7452360" y="5257800"/>
            <a:ext cx="4023360" cy="868680"/>
          </a:xfrm>
          <a:prstGeom prst="roundRect">
            <a:avLst>
              <a:gd name="adj" fmla="val 8421"/>
            </a:avLst>
          </a:prstGeom>
          <a:solidFill>
            <a:srgbClr val="FAF6F3"/>
          </a:solidFill>
          <a:ln/>
        </p:spPr>
        <p:txBody>
          <a:bodyPr/>
          <a:lstStyle/>
          <a:p>
            <a:endParaRPr lang="es-CO" noProof="0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9F34F759-FD6F-7329-895A-FAE4BE57BF20}"/>
              </a:ext>
            </a:extLst>
          </p:cNvPr>
          <p:cNvSpPr/>
          <p:nvPr/>
        </p:nvSpPr>
        <p:spPr>
          <a:xfrm>
            <a:off x="7635240" y="5367528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O" sz="2000" b="1" noProof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503</a:t>
            </a:r>
            <a:endParaRPr lang="es-CO" sz="2000" noProof="0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2EA43A37-8ED4-254C-34D6-F30D5681D36E}"/>
              </a:ext>
            </a:extLst>
          </p:cNvPr>
          <p:cNvSpPr/>
          <p:nvPr/>
        </p:nvSpPr>
        <p:spPr>
          <a:xfrm>
            <a:off x="8503920" y="539496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100" noProof="0" dirty="0">
                <a:solidFill>
                  <a:srgbClr val="7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no está corriendo o el modelo no está disponible.</a:t>
            </a:r>
            <a:endParaRPr lang="es-CO" sz="1100" noProof="0" dirty="0"/>
          </a:p>
        </p:txBody>
      </p:sp>
    </p:spTree>
    <p:extLst>
      <p:ext uri="{BB962C8B-B14F-4D97-AF65-F5344CB8AC3E}">
        <p14:creationId xmlns:p14="http://schemas.microsoft.com/office/powerpoint/2010/main" val="10863092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B86BE6-D54C-7AF2-6562-CAE1F770D9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30AB6BE-6A4C-A51C-5289-2747297FDE9C}"/>
              </a:ext>
            </a:extLst>
          </p:cNvPr>
          <p:cNvSpPr/>
          <p:nvPr/>
        </p:nvSpPr>
        <p:spPr>
          <a:xfrm>
            <a:off x="640080" y="45720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2800" b="1" noProof="0" dirty="0">
                <a:solidFill>
                  <a:srgbClr val="2B20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Respuesta de </a:t>
            </a:r>
            <a:r>
              <a:rPr lang="es-CO" sz="2800" b="1" noProof="0" dirty="0" err="1">
                <a:solidFill>
                  <a:srgbClr val="2B20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endpoints</a:t>
            </a:r>
            <a:endParaRPr lang="es-CO" sz="2800" noProof="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99288B9-B425-1CE2-D348-48C59DAB768F}"/>
              </a:ext>
            </a:extLst>
          </p:cNvPr>
          <p:cNvSpPr/>
          <p:nvPr/>
        </p:nvSpPr>
        <p:spPr>
          <a:xfrm>
            <a:off x="640080" y="10515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300" noProof="0" dirty="0">
                <a:solidFill>
                  <a:srgbClr val="7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documentada con </a:t>
            </a:r>
            <a:r>
              <a:rPr lang="es-CO" sz="1300" noProof="0" dirty="0" err="1">
                <a:solidFill>
                  <a:srgbClr val="7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OpenAPI</a:t>
            </a:r>
            <a:r>
              <a:rPr lang="es-CO" sz="1300" noProof="0" dirty="0">
                <a:solidFill>
                  <a:srgbClr val="7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(Swagger UI en /</a:t>
            </a:r>
            <a:r>
              <a:rPr lang="es-CO" sz="1300" noProof="0" dirty="0" err="1">
                <a:solidFill>
                  <a:srgbClr val="7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</a:t>
            </a:r>
            <a:r>
              <a:rPr lang="es-CO" sz="1300" noProof="0" dirty="0">
                <a:solidFill>
                  <a:srgbClr val="7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s-CO" sz="1300" noProof="0" dirty="0" err="1">
                <a:solidFill>
                  <a:srgbClr val="7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Redoc</a:t>
            </a:r>
            <a:r>
              <a:rPr lang="es-CO" sz="1300" noProof="0" dirty="0">
                <a:solidFill>
                  <a:srgbClr val="7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/</a:t>
            </a:r>
            <a:r>
              <a:rPr lang="es-CO" sz="1300" noProof="0" dirty="0" err="1">
                <a:solidFill>
                  <a:srgbClr val="7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redoc</a:t>
            </a:r>
            <a:r>
              <a:rPr lang="es-CO" sz="1300" noProof="0" dirty="0">
                <a:solidFill>
                  <a:srgbClr val="7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  <a:endParaRPr lang="es-CO" sz="1300" noProof="0" dirty="0"/>
          </a:p>
        </p:txBody>
      </p:sp>
      <p:graphicFrame>
        <p:nvGraphicFramePr>
          <p:cNvPr id="7" name="Table 0">
            <a:extLst>
              <a:ext uri="{FF2B5EF4-FFF2-40B4-BE49-F238E27FC236}">
                <a16:creationId xmlns:a16="http://schemas.microsoft.com/office/drawing/2014/main" id="{FD4EA07B-1BD3-8666-965F-83BA4BF4EC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7794821"/>
              </p:ext>
            </p:extLst>
          </p:nvPr>
        </p:nvGraphicFramePr>
        <p:xfrm>
          <a:off x="640080" y="1691640"/>
          <a:ext cx="10881360" cy="86868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CO" sz="125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Método</a:t>
                      </a:r>
                      <a:endParaRPr lang="es-CO" sz="12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CO" sz="1250" b="1" noProof="0" dirty="0" err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Endpoint</a:t>
                      </a:r>
                      <a:endParaRPr lang="es-CO" sz="12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CO" sz="125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Descripción</a:t>
                      </a:r>
                      <a:endParaRPr lang="es-CO" sz="12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CO" sz="1250" noProof="0" dirty="0">
                          <a:solidFill>
                            <a:srgbClr val="2B2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s-CO" sz="12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CO" sz="1250" noProof="0" dirty="0">
                          <a:solidFill>
                            <a:srgbClr val="2B2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</a:t>
                      </a:r>
                      <a:r>
                        <a:rPr lang="es-CO" sz="1250" noProof="0" dirty="0" err="1">
                          <a:solidFill>
                            <a:srgbClr val="2B2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</a:t>
                      </a:r>
                      <a:endParaRPr lang="es-CO" sz="12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CO" sz="1250" noProof="0" dirty="0">
                          <a:solidFill>
                            <a:srgbClr val="2B2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 </a:t>
                      </a:r>
                      <a:r>
                        <a:rPr lang="es-CO" sz="1250" noProof="0" dirty="0" err="1">
                          <a:solidFill>
                            <a:srgbClr val="2B2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</a:t>
                      </a:r>
                      <a:r>
                        <a:rPr lang="es-CO" sz="1250" noProof="0" dirty="0">
                          <a:solidFill>
                            <a:srgbClr val="2B2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del servicio</a:t>
                      </a:r>
                      <a:endParaRPr lang="es-CO" sz="12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>
            <a:extLst>
              <a:ext uri="{FF2B5EF4-FFF2-40B4-BE49-F238E27FC236}">
                <a16:creationId xmlns:a16="http://schemas.microsoft.com/office/drawing/2014/main" id="{C8263159-F072-FC0A-D8CC-30206C01868A}"/>
              </a:ext>
            </a:extLst>
          </p:cNvPr>
          <p:cNvSpPr/>
          <p:nvPr/>
        </p:nvSpPr>
        <p:spPr>
          <a:xfrm>
            <a:off x="640080" y="28642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400" b="1" noProof="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de respuesta — /</a:t>
            </a:r>
            <a:r>
              <a:rPr lang="es-CO" sz="1400" b="1" noProof="0" dirty="0" err="1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s-CO" sz="1400" noProof="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5CF1FBE3-4952-E32D-7D82-5D31341290DA}"/>
              </a:ext>
            </a:extLst>
          </p:cNvPr>
          <p:cNvSpPr/>
          <p:nvPr/>
        </p:nvSpPr>
        <p:spPr>
          <a:xfrm>
            <a:off x="6838902" y="3291477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400" b="1" noProof="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 comunes</a:t>
            </a:r>
            <a:endParaRPr lang="es-CO" sz="1400" noProof="0" dirty="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98C68E2E-038D-1C0A-BA8C-DEC53EBC1A0A}"/>
              </a:ext>
            </a:extLst>
          </p:cNvPr>
          <p:cNvSpPr/>
          <p:nvPr/>
        </p:nvSpPr>
        <p:spPr>
          <a:xfrm>
            <a:off x="6701742" y="3759947"/>
            <a:ext cx="4023360" cy="868680"/>
          </a:xfrm>
          <a:prstGeom prst="roundRect">
            <a:avLst>
              <a:gd name="adj" fmla="val 8421"/>
            </a:avLst>
          </a:prstGeom>
          <a:solidFill>
            <a:srgbClr val="FAF6F3"/>
          </a:solidFill>
          <a:ln/>
        </p:spPr>
        <p:txBody>
          <a:bodyPr/>
          <a:lstStyle/>
          <a:p>
            <a:endParaRPr lang="es-CO" noProof="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BDEE7900-1879-C597-78A1-00638722F7E5}"/>
              </a:ext>
            </a:extLst>
          </p:cNvPr>
          <p:cNvSpPr/>
          <p:nvPr/>
        </p:nvSpPr>
        <p:spPr>
          <a:xfrm>
            <a:off x="7021782" y="3858405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O" sz="2000" b="1" noProof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10061</a:t>
            </a:r>
            <a:endParaRPr lang="es-CO" sz="2000" noProof="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3D7F8573-9686-383A-B224-564EE18BC62C}"/>
              </a:ext>
            </a:extLst>
          </p:cNvPr>
          <p:cNvSpPr/>
          <p:nvPr/>
        </p:nvSpPr>
        <p:spPr>
          <a:xfrm>
            <a:off x="7890462" y="3885837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100" noProof="0" dirty="0">
                <a:solidFill>
                  <a:srgbClr val="7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pudo establecer conexión....</a:t>
            </a:r>
            <a:endParaRPr lang="es-CO" sz="1100" noProof="0" dirty="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62F2AE0F-AA3D-50D9-A068-8581FEAAC4D0}"/>
              </a:ext>
            </a:extLst>
          </p:cNvPr>
          <p:cNvSpPr/>
          <p:nvPr/>
        </p:nvSpPr>
        <p:spPr>
          <a:xfrm>
            <a:off x="6838902" y="4800237"/>
            <a:ext cx="4023360" cy="868680"/>
          </a:xfrm>
          <a:prstGeom prst="roundRect">
            <a:avLst>
              <a:gd name="adj" fmla="val 8421"/>
            </a:avLst>
          </a:prstGeom>
          <a:solidFill>
            <a:srgbClr val="FAF6F3"/>
          </a:solidFill>
          <a:ln/>
        </p:spPr>
        <p:txBody>
          <a:bodyPr/>
          <a:lstStyle/>
          <a:p>
            <a:endParaRPr lang="es-CO" noProof="0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5727CF60-DBDB-1DB2-7FF7-855F3D09A8FD}"/>
              </a:ext>
            </a:extLst>
          </p:cNvPr>
          <p:cNvSpPr/>
          <p:nvPr/>
        </p:nvSpPr>
        <p:spPr>
          <a:xfrm>
            <a:off x="7021782" y="4909965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O" sz="2000" b="1" noProof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503</a:t>
            </a:r>
            <a:endParaRPr lang="es-CO" sz="2000" noProof="0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439728DD-2264-BA5E-6E96-F003AFEAE638}"/>
              </a:ext>
            </a:extLst>
          </p:cNvPr>
          <p:cNvSpPr/>
          <p:nvPr/>
        </p:nvSpPr>
        <p:spPr>
          <a:xfrm>
            <a:off x="7890462" y="4937397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100" noProof="0" dirty="0">
                <a:solidFill>
                  <a:srgbClr val="7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no está corriendo o el modelo no está disponible.</a:t>
            </a:r>
            <a:endParaRPr lang="es-CO" sz="1100" noProof="0" dirty="0"/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9F018FA9-8AFF-662F-700A-B809107690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0174" y="3657237"/>
            <a:ext cx="4443547" cy="2653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6842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CCD22C-7FF8-A2FE-B4B9-882CB4D48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13AA336-3E91-F70C-1BEA-08D170A7248E}"/>
              </a:ext>
            </a:extLst>
          </p:cNvPr>
          <p:cNvSpPr/>
          <p:nvPr/>
        </p:nvSpPr>
        <p:spPr>
          <a:xfrm>
            <a:off x="640080" y="45720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2800" b="1" noProof="0" dirty="0" err="1">
                <a:solidFill>
                  <a:srgbClr val="2B20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Endpoints</a:t>
            </a:r>
            <a:r>
              <a:rPr lang="es-CO" sz="2800" b="1" noProof="0" dirty="0">
                <a:solidFill>
                  <a:srgbClr val="2B20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principales</a:t>
            </a:r>
            <a:endParaRPr lang="es-CO" sz="2800" noProof="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41A6843-C0FD-3A17-B9B9-B7F02DB7A400}"/>
              </a:ext>
            </a:extLst>
          </p:cNvPr>
          <p:cNvSpPr/>
          <p:nvPr/>
        </p:nvSpPr>
        <p:spPr>
          <a:xfrm>
            <a:off x="640080" y="10515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300" noProof="0" dirty="0">
                <a:solidFill>
                  <a:srgbClr val="7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documentada con </a:t>
            </a:r>
            <a:r>
              <a:rPr lang="es-CO" sz="1300" noProof="0" dirty="0" err="1">
                <a:solidFill>
                  <a:srgbClr val="7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OpenAPI</a:t>
            </a:r>
            <a:r>
              <a:rPr lang="es-CO" sz="1300" noProof="0" dirty="0">
                <a:solidFill>
                  <a:srgbClr val="7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(Swagger UI en /</a:t>
            </a:r>
            <a:r>
              <a:rPr lang="es-CO" sz="1300" noProof="0" dirty="0" err="1">
                <a:solidFill>
                  <a:srgbClr val="7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</a:t>
            </a:r>
            <a:r>
              <a:rPr lang="es-CO" sz="1300" noProof="0" dirty="0">
                <a:solidFill>
                  <a:srgbClr val="7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s-CO" sz="1300" noProof="0" dirty="0" err="1">
                <a:solidFill>
                  <a:srgbClr val="7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Redoc</a:t>
            </a:r>
            <a:r>
              <a:rPr lang="es-CO" sz="1300" noProof="0" dirty="0">
                <a:solidFill>
                  <a:srgbClr val="7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/</a:t>
            </a:r>
            <a:r>
              <a:rPr lang="es-CO" sz="1300" noProof="0" dirty="0" err="1">
                <a:solidFill>
                  <a:srgbClr val="7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redoc</a:t>
            </a:r>
            <a:r>
              <a:rPr lang="es-CO" sz="1300" noProof="0" dirty="0">
                <a:solidFill>
                  <a:srgbClr val="7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  <a:endParaRPr lang="es-CO" sz="1300" noProof="0" dirty="0"/>
          </a:p>
        </p:txBody>
      </p:sp>
      <p:graphicFrame>
        <p:nvGraphicFramePr>
          <p:cNvPr id="7" name="Table 0">
            <a:extLst>
              <a:ext uri="{FF2B5EF4-FFF2-40B4-BE49-F238E27FC236}">
                <a16:creationId xmlns:a16="http://schemas.microsoft.com/office/drawing/2014/main" id="{6F8C1F72-65EB-9A18-86AD-69E3AF2FB6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238372"/>
              </p:ext>
            </p:extLst>
          </p:nvPr>
        </p:nvGraphicFramePr>
        <p:xfrm>
          <a:off x="640080" y="1691640"/>
          <a:ext cx="10881360" cy="86868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CO" sz="125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Método</a:t>
                      </a:r>
                      <a:endParaRPr lang="es-CO" sz="12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CO" sz="1250" b="1" noProof="0" dirty="0" err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Endpoint</a:t>
                      </a:r>
                      <a:endParaRPr lang="es-CO" sz="12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CO" sz="125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Descripción</a:t>
                      </a:r>
                      <a:endParaRPr lang="es-CO" sz="12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CO" sz="1250" noProof="0" dirty="0">
                          <a:solidFill>
                            <a:srgbClr val="2B2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s-CO" sz="12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CO" sz="1250" noProof="0" dirty="0">
                          <a:solidFill>
                            <a:srgbClr val="2B2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/api/v1/</a:t>
                      </a:r>
                      <a:r>
                        <a:rPr lang="es-CO" sz="1250" noProof="0" dirty="0" err="1">
                          <a:solidFill>
                            <a:srgbClr val="2B2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payroll</a:t>
                      </a:r>
                      <a:r>
                        <a:rPr lang="es-CO" sz="1250" noProof="0" dirty="0">
                          <a:solidFill>
                            <a:srgbClr val="2B2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</a:t>
                      </a:r>
                      <a:r>
                        <a:rPr lang="es-CO" sz="1250" noProof="0" dirty="0" err="1">
                          <a:solidFill>
                            <a:srgbClr val="2B2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calculate</a:t>
                      </a:r>
                      <a:endParaRPr lang="es-CO" sz="12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CO" sz="1250" noProof="0" dirty="0">
                          <a:solidFill>
                            <a:srgbClr val="2B2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Liquidación de nómina desde texto plano</a:t>
                      </a:r>
                      <a:endParaRPr lang="es-CO" sz="12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Text 2">
            <a:extLst>
              <a:ext uri="{FF2B5EF4-FFF2-40B4-BE49-F238E27FC236}">
                <a16:creationId xmlns:a16="http://schemas.microsoft.com/office/drawing/2014/main" id="{FDB99BD4-D9AD-9C3B-C72A-73FBA523D3CD}"/>
              </a:ext>
            </a:extLst>
          </p:cNvPr>
          <p:cNvSpPr/>
          <p:nvPr/>
        </p:nvSpPr>
        <p:spPr>
          <a:xfrm>
            <a:off x="640080" y="2893003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400" b="1" noProof="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de respuesta — /</a:t>
            </a:r>
            <a:r>
              <a:rPr lang="es-CO" sz="1400" b="1" noProof="0" dirty="0" err="1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calculate-from</a:t>
            </a:r>
            <a:endParaRPr lang="es-CO" sz="1400" noProof="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31FF0977-8DC7-36F6-697D-184156A06D0D}"/>
              </a:ext>
            </a:extLst>
          </p:cNvPr>
          <p:cNvSpPr/>
          <p:nvPr/>
        </p:nvSpPr>
        <p:spPr>
          <a:xfrm>
            <a:off x="7452360" y="37490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400" b="1" noProof="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 comunes</a:t>
            </a:r>
            <a:endParaRPr lang="es-CO" sz="1400" noProof="0" dirty="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38A5C4D8-C7E4-BF48-9F6C-2144C9912D02}"/>
              </a:ext>
            </a:extLst>
          </p:cNvPr>
          <p:cNvSpPr/>
          <p:nvPr/>
        </p:nvSpPr>
        <p:spPr>
          <a:xfrm>
            <a:off x="7452360" y="4206240"/>
            <a:ext cx="4023360" cy="868680"/>
          </a:xfrm>
          <a:prstGeom prst="roundRect">
            <a:avLst>
              <a:gd name="adj" fmla="val 8421"/>
            </a:avLst>
          </a:prstGeom>
          <a:solidFill>
            <a:srgbClr val="FAF6F3"/>
          </a:solidFill>
          <a:ln/>
        </p:spPr>
        <p:txBody>
          <a:bodyPr/>
          <a:lstStyle/>
          <a:p>
            <a:endParaRPr lang="es-CO" noProof="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EA062083-1D0A-56F9-D1F7-675952350A94}"/>
              </a:ext>
            </a:extLst>
          </p:cNvPr>
          <p:cNvSpPr/>
          <p:nvPr/>
        </p:nvSpPr>
        <p:spPr>
          <a:xfrm>
            <a:off x="7635240" y="4315968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O" sz="2000" b="1" noProof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422</a:t>
            </a:r>
            <a:endParaRPr lang="es-CO" sz="2000" noProof="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F5052E74-D14C-4EC2-B2D1-C5BA1D0CC1E2}"/>
              </a:ext>
            </a:extLst>
          </p:cNvPr>
          <p:cNvSpPr/>
          <p:nvPr/>
        </p:nvSpPr>
        <p:spPr>
          <a:xfrm>
            <a:off x="8503920" y="434340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100" noProof="0" dirty="0">
                <a:solidFill>
                  <a:srgbClr val="7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  <a:r>
              <a:rPr lang="es-CO" sz="1100" noProof="0" dirty="0" err="1">
                <a:solidFill>
                  <a:srgbClr val="7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</a:t>
            </a:r>
            <a:r>
              <a:rPr lang="es-CO" sz="1100" noProof="0" dirty="0">
                <a:solidFill>
                  <a:srgbClr val="7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CO" sz="1100" noProof="0" dirty="0" err="1">
                <a:solidFill>
                  <a:srgbClr val="7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</a:t>
            </a:r>
            <a:r>
              <a:rPr lang="es-CO" sz="1100" noProof="0" dirty="0">
                <a:solidFill>
                  <a:srgbClr val="7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  <a:endParaRPr lang="es-CO" sz="1100" noProof="0" dirty="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09CF4A5A-627E-253B-E921-76B4885509A9}"/>
              </a:ext>
            </a:extLst>
          </p:cNvPr>
          <p:cNvSpPr/>
          <p:nvPr/>
        </p:nvSpPr>
        <p:spPr>
          <a:xfrm>
            <a:off x="7452360" y="5257800"/>
            <a:ext cx="4023360" cy="868680"/>
          </a:xfrm>
          <a:prstGeom prst="roundRect">
            <a:avLst>
              <a:gd name="adj" fmla="val 8421"/>
            </a:avLst>
          </a:prstGeom>
          <a:solidFill>
            <a:srgbClr val="FAF6F3"/>
          </a:solidFill>
          <a:ln/>
        </p:spPr>
        <p:txBody>
          <a:bodyPr/>
          <a:lstStyle/>
          <a:p>
            <a:endParaRPr lang="es-CO" noProof="0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1E2F5DC4-8D4D-0580-CE8A-273886E9DDAD}"/>
              </a:ext>
            </a:extLst>
          </p:cNvPr>
          <p:cNvSpPr/>
          <p:nvPr/>
        </p:nvSpPr>
        <p:spPr>
          <a:xfrm>
            <a:off x="7635240" y="5367528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O" sz="2000" b="1" noProof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s-CO" sz="2000" noProof="0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9DE88335-F62B-61C2-5D89-8377A57697FA}"/>
              </a:ext>
            </a:extLst>
          </p:cNvPr>
          <p:cNvSpPr/>
          <p:nvPr/>
        </p:nvSpPr>
        <p:spPr>
          <a:xfrm>
            <a:off x="8503920" y="539496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100" noProof="0" dirty="0">
                <a:solidFill>
                  <a:srgbClr val="7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"Error: {mensaje}" (ej. "Error: '</a:t>
            </a:r>
            <a:r>
              <a:rPr lang="es-CO" sz="1100" noProof="0" dirty="0" err="1">
                <a:solidFill>
                  <a:srgbClr val="7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tipo_pago</a:t>
            </a:r>
            <a:r>
              <a:rPr lang="es-CO" sz="1100" noProof="0" dirty="0">
                <a:solidFill>
                  <a:srgbClr val="7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 </a:t>
            </a:r>
            <a:r>
              <a:rPr lang="es-CO" sz="1100" noProof="0" dirty="0" err="1">
                <a:solidFill>
                  <a:srgbClr val="7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</a:t>
            </a:r>
            <a:r>
              <a:rPr lang="es-CO" sz="1100" noProof="0" dirty="0">
                <a:solidFill>
                  <a:srgbClr val="7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CO" sz="1100" noProof="0" dirty="0" err="1">
                <a:solidFill>
                  <a:srgbClr val="7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r>
              <a:rPr lang="es-CO" sz="1100" noProof="0" dirty="0">
                <a:solidFill>
                  <a:srgbClr val="7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CO" sz="1100" noProof="0" dirty="0" err="1">
                <a:solidFill>
                  <a:srgbClr val="7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</a:t>
            </a:r>
            <a:r>
              <a:rPr lang="es-CO" sz="1100" noProof="0" dirty="0">
                <a:solidFill>
                  <a:srgbClr val="7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  <a:endParaRPr lang="es-CO" sz="1100" noProof="0" dirty="0"/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F46F6E58-462E-1800-3861-C9C4CB16014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926" t="-2263" b="2263"/>
          <a:stretch>
            <a:fillRect/>
          </a:stretch>
        </p:blipFill>
        <p:spPr>
          <a:xfrm>
            <a:off x="874467" y="3272676"/>
            <a:ext cx="5221533" cy="3366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97509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728013-8BEC-6B85-C4EA-99E91B2653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A444158-0E8F-7EDD-C199-9F2C7EB59C61}"/>
              </a:ext>
            </a:extLst>
          </p:cNvPr>
          <p:cNvSpPr/>
          <p:nvPr/>
        </p:nvSpPr>
        <p:spPr>
          <a:xfrm>
            <a:off x="640080" y="45720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2800" b="1" noProof="0" dirty="0" err="1">
                <a:solidFill>
                  <a:srgbClr val="2B20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Endpoints</a:t>
            </a:r>
            <a:r>
              <a:rPr lang="es-CO" sz="2800" b="1" noProof="0" dirty="0">
                <a:solidFill>
                  <a:srgbClr val="2B20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principales</a:t>
            </a:r>
            <a:endParaRPr lang="es-CO" sz="2800" noProof="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A491F20-0AD5-0AFB-6D89-BE08815E56E8}"/>
              </a:ext>
            </a:extLst>
          </p:cNvPr>
          <p:cNvSpPr/>
          <p:nvPr/>
        </p:nvSpPr>
        <p:spPr>
          <a:xfrm>
            <a:off x="640080" y="10515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300" noProof="0" dirty="0">
                <a:solidFill>
                  <a:srgbClr val="7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documentada con </a:t>
            </a:r>
            <a:r>
              <a:rPr lang="es-CO" sz="1300" noProof="0" dirty="0" err="1">
                <a:solidFill>
                  <a:srgbClr val="7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OpenAPI</a:t>
            </a:r>
            <a:r>
              <a:rPr lang="es-CO" sz="1300" noProof="0" dirty="0">
                <a:solidFill>
                  <a:srgbClr val="7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(Swagger UI en /</a:t>
            </a:r>
            <a:r>
              <a:rPr lang="es-CO" sz="1300" noProof="0" dirty="0" err="1">
                <a:solidFill>
                  <a:srgbClr val="7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</a:t>
            </a:r>
            <a:r>
              <a:rPr lang="es-CO" sz="1300" noProof="0" dirty="0">
                <a:solidFill>
                  <a:srgbClr val="7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s-CO" sz="1300" noProof="0" dirty="0" err="1">
                <a:solidFill>
                  <a:srgbClr val="7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Redoc</a:t>
            </a:r>
            <a:r>
              <a:rPr lang="es-CO" sz="1300" noProof="0" dirty="0">
                <a:solidFill>
                  <a:srgbClr val="7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/</a:t>
            </a:r>
            <a:r>
              <a:rPr lang="es-CO" sz="1300" noProof="0" dirty="0" err="1">
                <a:solidFill>
                  <a:srgbClr val="7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redoc</a:t>
            </a:r>
            <a:r>
              <a:rPr lang="es-CO" sz="1300" noProof="0" dirty="0">
                <a:solidFill>
                  <a:srgbClr val="7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  <a:endParaRPr lang="es-CO" sz="1300" noProof="0" dirty="0"/>
          </a:p>
        </p:txBody>
      </p:sp>
      <p:graphicFrame>
        <p:nvGraphicFramePr>
          <p:cNvPr id="7" name="Table 0">
            <a:extLst>
              <a:ext uri="{FF2B5EF4-FFF2-40B4-BE49-F238E27FC236}">
                <a16:creationId xmlns:a16="http://schemas.microsoft.com/office/drawing/2014/main" id="{8658357E-07BA-0BDA-A2AA-1A54C1C3E3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0604055"/>
              </p:ext>
            </p:extLst>
          </p:nvPr>
        </p:nvGraphicFramePr>
        <p:xfrm>
          <a:off x="640080" y="1691640"/>
          <a:ext cx="10881360" cy="86868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CO" sz="125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Método</a:t>
                      </a:r>
                      <a:endParaRPr lang="es-CO" sz="12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CO" sz="1250" b="1" noProof="0" dirty="0" err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Endpoint</a:t>
                      </a:r>
                      <a:endParaRPr lang="es-CO" sz="12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CO" sz="125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Descripción</a:t>
                      </a:r>
                      <a:endParaRPr lang="es-CO" sz="12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CO" sz="1250" noProof="0" dirty="0">
                          <a:solidFill>
                            <a:srgbClr val="2B2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s-CO" sz="12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CO" sz="1250" noProof="0" dirty="0">
                          <a:solidFill>
                            <a:srgbClr val="2B2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/api/v1/</a:t>
                      </a:r>
                      <a:r>
                        <a:rPr lang="es-CO" sz="1250" noProof="0" dirty="0" err="1">
                          <a:solidFill>
                            <a:srgbClr val="2B2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payroll</a:t>
                      </a:r>
                      <a:r>
                        <a:rPr lang="es-CO" sz="1250" noProof="0" dirty="0">
                          <a:solidFill>
                            <a:srgbClr val="2B2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</a:t>
                      </a:r>
                      <a:r>
                        <a:rPr lang="es-CO" sz="1250" noProof="0" dirty="0" err="1">
                          <a:solidFill>
                            <a:srgbClr val="2B2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calculate-from-pdf</a:t>
                      </a:r>
                      <a:endParaRPr lang="es-CO" sz="12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CO" sz="1250" noProof="0" dirty="0">
                          <a:solidFill>
                            <a:srgbClr val="2B2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Liquidación de nómina extrayendo datos directo del PDF del contrato</a:t>
                      </a:r>
                      <a:endParaRPr lang="es-CO" sz="12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ext 2">
            <a:extLst>
              <a:ext uri="{FF2B5EF4-FFF2-40B4-BE49-F238E27FC236}">
                <a16:creationId xmlns:a16="http://schemas.microsoft.com/office/drawing/2014/main" id="{2EB23E69-0F76-1F7D-21C2-9152DE5B77B9}"/>
              </a:ext>
            </a:extLst>
          </p:cNvPr>
          <p:cNvSpPr/>
          <p:nvPr/>
        </p:nvSpPr>
        <p:spPr>
          <a:xfrm>
            <a:off x="640080" y="3063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400" b="1" noProof="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de respuesta — /</a:t>
            </a:r>
            <a:r>
              <a:rPr lang="es-CO" sz="1400" b="1" noProof="0" dirty="0" err="1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calculate-from-pdf</a:t>
            </a:r>
            <a:endParaRPr lang="es-CO" sz="1400" noProof="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CB618D3F-722D-6528-9E9B-2EC90F4CFA4D}"/>
              </a:ext>
            </a:extLst>
          </p:cNvPr>
          <p:cNvSpPr/>
          <p:nvPr/>
        </p:nvSpPr>
        <p:spPr>
          <a:xfrm>
            <a:off x="7452360" y="30632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400" b="1" noProof="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 comunes</a:t>
            </a:r>
            <a:endParaRPr lang="es-CO" sz="1400" noProof="0" dirty="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A3C79003-A403-6BBC-1EA0-20E5A07EB45B}"/>
              </a:ext>
            </a:extLst>
          </p:cNvPr>
          <p:cNvSpPr/>
          <p:nvPr/>
        </p:nvSpPr>
        <p:spPr>
          <a:xfrm>
            <a:off x="7452360" y="3520440"/>
            <a:ext cx="4023360" cy="868680"/>
          </a:xfrm>
          <a:prstGeom prst="roundRect">
            <a:avLst>
              <a:gd name="adj" fmla="val 8421"/>
            </a:avLst>
          </a:prstGeom>
          <a:solidFill>
            <a:srgbClr val="FAF6F3"/>
          </a:solidFill>
          <a:ln/>
        </p:spPr>
        <p:txBody>
          <a:bodyPr/>
          <a:lstStyle/>
          <a:p>
            <a:endParaRPr lang="es-CO" noProof="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7694A837-E654-6847-EBCC-0A91E70A5C08}"/>
              </a:ext>
            </a:extLst>
          </p:cNvPr>
          <p:cNvSpPr/>
          <p:nvPr/>
        </p:nvSpPr>
        <p:spPr>
          <a:xfrm>
            <a:off x="7635240" y="3630168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O" sz="2000" b="1" noProof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</a:t>
            </a:r>
            <a:endParaRPr lang="es-CO" sz="2000" noProof="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987D1BA0-91D6-AE63-0EA0-0D1DDCE7D346}"/>
              </a:ext>
            </a:extLst>
          </p:cNvPr>
          <p:cNvSpPr/>
          <p:nvPr/>
        </p:nvSpPr>
        <p:spPr>
          <a:xfrm>
            <a:off x="8503920" y="365760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100" noProof="0" dirty="0">
                <a:solidFill>
                  <a:srgbClr val="7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documento al cual procesar.</a:t>
            </a:r>
            <a:endParaRPr lang="es-CO" sz="1100" noProof="0" dirty="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F5318E9E-50FF-A358-44BA-59A106762988}"/>
              </a:ext>
            </a:extLst>
          </p:cNvPr>
          <p:cNvSpPr/>
          <p:nvPr/>
        </p:nvSpPr>
        <p:spPr>
          <a:xfrm>
            <a:off x="7452360" y="4572000"/>
            <a:ext cx="4023360" cy="868680"/>
          </a:xfrm>
          <a:prstGeom prst="roundRect">
            <a:avLst>
              <a:gd name="adj" fmla="val 8421"/>
            </a:avLst>
          </a:prstGeom>
          <a:solidFill>
            <a:srgbClr val="FAF6F3"/>
          </a:solidFill>
          <a:ln/>
        </p:spPr>
        <p:txBody>
          <a:bodyPr/>
          <a:lstStyle/>
          <a:p>
            <a:endParaRPr lang="es-CO" noProof="0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53F0C1E9-67FD-9CE8-77C5-DB560E28D35D}"/>
              </a:ext>
            </a:extLst>
          </p:cNvPr>
          <p:cNvSpPr/>
          <p:nvPr/>
        </p:nvSpPr>
        <p:spPr>
          <a:xfrm>
            <a:off x="7635240" y="4681728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O" sz="2000" b="1" noProof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503</a:t>
            </a:r>
            <a:endParaRPr lang="es-CO" sz="2000" noProof="0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7AD76196-40A3-CB74-9643-C0943C0C0D9D}"/>
              </a:ext>
            </a:extLst>
          </p:cNvPr>
          <p:cNvSpPr/>
          <p:nvPr/>
        </p:nvSpPr>
        <p:spPr>
          <a:xfrm>
            <a:off x="8503920" y="470916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100" noProof="0" dirty="0">
                <a:solidFill>
                  <a:srgbClr val="7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 se pudo procesar el contrato con la IA local."</a:t>
            </a:r>
            <a:endParaRPr lang="es-CO" sz="1100" noProof="0" dirty="0"/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BD3BA355-105A-EA5D-5143-DB157F078F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105" y="3429000"/>
            <a:ext cx="5295996" cy="3257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99382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CE2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2800" b="1" noProof="0" dirty="0">
                <a:solidFill>
                  <a:srgbClr val="2B20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Filosofía del proyecto</a:t>
            </a:r>
            <a:endParaRPr lang="es-CO" sz="2800" noProof="0" dirty="0"/>
          </a:p>
        </p:txBody>
      </p:sp>
      <p:sp>
        <p:nvSpPr>
          <p:cNvPr id="3" name="Shape 1"/>
          <p:cNvSpPr/>
          <p:nvPr/>
        </p:nvSpPr>
        <p:spPr>
          <a:xfrm>
            <a:off x="640080" y="1508760"/>
            <a:ext cx="3429000" cy="2286000"/>
          </a:xfrm>
          <a:prstGeom prst="roundRect">
            <a:avLst>
              <a:gd name="adj" fmla="val 4000"/>
            </a:avLst>
          </a:prstGeom>
          <a:solidFill>
            <a:srgbClr val="6D2E46"/>
          </a:solidFill>
          <a:ln/>
        </p:spPr>
        <p:txBody>
          <a:bodyPr/>
          <a:lstStyle/>
          <a:p>
            <a:endParaRPr lang="es-CO" noProof="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1764792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96112" y="23774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5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Soberanía de datos</a:t>
            </a:r>
            <a:endParaRPr lang="es-CO" sz="1500" noProof="0" dirty="0"/>
          </a:p>
        </p:txBody>
      </p:sp>
      <p:sp>
        <p:nvSpPr>
          <p:cNvPr id="6" name="Text 3"/>
          <p:cNvSpPr/>
          <p:nvPr/>
        </p:nvSpPr>
        <p:spPr>
          <a:xfrm>
            <a:off x="896112" y="274320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150" noProof="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se procesa </a:t>
            </a:r>
            <a:r>
              <a:rPr lang="es-CO" sz="1150" noProof="0" dirty="0" err="1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</a:t>
            </a:r>
            <a:r>
              <a:rPr lang="es-CO" sz="1150" noProof="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-premise. Contratos e identificaciones de artistas nunca salen hacia servidores externos.</a:t>
            </a:r>
            <a:endParaRPr lang="es-CO" sz="1150" noProof="0" dirty="0"/>
          </a:p>
        </p:txBody>
      </p:sp>
      <p:sp>
        <p:nvSpPr>
          <p:cNvPr id="7" name="Shape 4"/>
          <p:cNvSpPr/>
          <p:nvPr/>
        </p:nvSpPr>
        <p:spPr>
          <a:xfrm>
            <a:off x="4389120" y="1508760"/>
            <a:ext cx="3429000" cy="2286000"/>
          </a:xfrm>
          <a:prstGeom prst="roundRect">
            <a:avLst>
              <a:gd name="adj" fmla="val 4000"/>
            </a:avLst>
          </a:prstGeom>
          <a:solidFill>
            <a:srgbClr val="6D2E46"/>
          </a:solidFill>
          <a:ln/>
        </p:spPr>
        <p:txBody>
          <a:bodyPr/>
          <a:lstStyle/>
          <a:p>
            <a:endParaRPr lang="es-CO" noProof="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5152" y="1764792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645152" y="23774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5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operacional $0</a:t>
            </a:r>
            <a:endParaRPr lang="es-CO" sz="1500" noProof="0" dirty="0"/>
          </a:p>
        </p:txBody>
      </p:sp>
      <p:sp>
        <p:nvSpPr>
          <p:cNvPr id="10" name="Text 6"/>
          <p:cNvSpPr/>
          <p:nvPr/>
        </p:nvSpPr>
        <p:spPr>
          <a:xfrm>
            <a:off x="4645152" y="274320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150" noProof="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open-</a:t>
            </a:r>
            <a:r>
              <a:rPr lang="es-CO" sz="1150" noProof="0" dirty="0" err="1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r>
              <a:rPr lang="es-CO" sz="1150" noProof="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ejecutados localmente. Sin suscripciones ni cobro por token.</a:t>
            </a:r>
            <a:endParaRPr lang="es-CO" sz="1150" noProof="0" dirty="0"/>
          </a:p>
        </p:txBody>
      </p:sp>
      <p:sp>
        <p:nvSpPr>
          <p:cNvPr id="11" name="Shape 7"/>
          <p:cNvSpPr/>
          <p:nvPr/>
        </p:nvSpPr>
        <p:spPr>
          <a:xfrm>
            <a:off x="8138160" y="1508760"/>
            <a:ext cx="3429000" cy="2286000"/>
          </a:xfrm>
          <a:prstGeom prst="roundRect">
            <a:avLst>
              <a:gd name="adj" fmla="val 4000"/>
            </a:avLst>
          </a:prstGeom>
          <a:solidFill>
            <a:srgbClr val="6D2E46"/>
          </a:solidFill>
          <a:ln/>
        </p:spPr>
        <p:txBody>
          <a:bodyPr/>
          <a:lstStyle/>
          <a:p>
            <a:endParaRPr lang="es-CO" noProof="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4192" y="1764792"/>
            <a:ext cx="457200" cy="4572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394192" y="23774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5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Transparencia total</a:t>
            </a:r>
            <a:endParaRPr lang="es-CO" sz="1500" noProof="0" dirty="0"/>
          </a:p>
        </p:txBody>
      </p:sp>
      <p:sp>
        <p:nvSpPr>
          <p:cNvPr id="14" name="Text 9"/>
          <p:cNvSpPr/>
          <p:nvPr/>
        </p:nvSpPr>
        <p:spPr>
          <a:xfrm>
            <a:off x="8394192" y="274320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150" noProof="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Desgloses de pago claros y auditables, con trazabilidad completa para artistas y productoras.</a:t>
            </a:r>
            <a:endParaRPr lang="es-CO" sz="1150" noProof="0" dirty="0"/>
          </a:p>
        </p:txBody>
      </p:sp>
      <p:sp>
        <p:nvSpPr>
          <p:cNvPr id="15" name="Text 10"/>
          <p:cNvSpPr/>
          <p:nvPr/>
        </p:nvSpPr>
        <p:spPr>
          <a:xfrm>
            <a:off x="640080" y="4114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600" b="1" noProof="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del proyecto</a:t>
            </a:r>
            <a:endParaRPr lang="es-CO" sz="1600" noProof="0" dirty="0"/>
          </a:p>
        </p:txBody>
      </p:sp>
      <p:sp>
        <p:nvSpPr>
          <p:cNvPr id="16" name="Shape 11"/>
          <p:cNvSpPr/>
          <p:nvPr/>
        </p:nvSpPr>
        <p:spPr>
          <a:xfrm>
            <a:off x="640080" y="4526280"/>
            <a:ext cx="10881360" cy="1737360"/>
          </a:xfrm>
          <a:prstGeom prst="roundRect">
            <a:avLst>
              <a:gd name="adj" fmla="val 4211"/>
            </a:avLst>
          </a:prstGeom>
          <a:solidFill>
            <a:srgbClr val="231B1E"/>
          </a:solidFill>
          <a:ln/>
        </p:spPr>
        <p:txBody>
          <a:bodyPr/>
          <a:lstStyle/>
          <a:p>
            <a:endParaRPr lang="es-CO" noProof="0" dirty="0"/>
          </a:p>
        </p:txBody>
      </p:sp>
      <p:sp>
        <p:nvSpPr>
          <p:cNvPr id="17" name="Text 12"/>
          <p:cNvSpPr/>
          <p:nvPr/>
        </p:nvSpPr>
        <p:spPr>
          <a:xfrm>
            <a:off x="914400" y="4709160"/>
            <a:ext cx="10332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300" noProof="0" dirty="0" err="1">
                <a:solidFill>
                  <a:srgbClr val="E8DD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</a:t>
            </a:r>
            <a:r>
              <a:rPr lang="es-CO" sz="1300" noProof="0" dirty="0">
                <a:solidFill>
                  <a:srgbClr val="E8DD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s-CO" sz="1300" noProof="0" dirty="0"/>
          </a:p>
          <a:p>
            <a:pPr marL="0" indent="0">
              <a:buNone/>
            </a:pPr>
            <a:r>
              <a:rPr lang="es-CO" sz="1300" noProof="0" dirty="0">
                <a:solidFill>
                  <a:srgbClr val="E8DD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</a:t>
            </a:r>
            <a:r>
              <a:rPr lang="es-CO" sz="1300" noProof="0" dirty="0" err="1">
                <a:solidFill>
                  <a:srgbClr val="E8DD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domain</a:t>
            </a:r>
            <a:r>
              <a:rPr lang="es-CO" sz="1300" noProof="0" dirty="0">
                <a:solidFill>
                  <a:srgbClr val="E8DD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           # Entidades y lógica de negocio</a:t>
            </a:r>
            <a:endParaRPr lang="es-CO" sz="1300" noProof="0" dirty="0"/>
          </a:p>
          <a:p>
            <a:pPr marL="0" indent="0">
              <a:buNone/>
            </a:pPr>
            <a:r>
              <a:rPr lang="es-CO" sz="1300" noProof="0" dirty="0">
                <a:solidFill>
                  <a:srgbClr val="E8DD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</a:t>
            </a:r>
            <a:r>
              <a:rPr lang="es-CO" sz="1300" noProof="0" dirty="0" err="1">
                <a:solidFill>
                  <a:srgbClr val="E8DD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application</a:t>
            </a:r>
            <a:r>
              <a:rPr lang="es-CO" sz="1300" noProof="0" dirty="0">
                <a:solidFill>
                  <a:srgbClr val="E8DD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      # Puertos (interfaces)</a:t>
            </a:r>
            <a:endParaRPr lang="es-CO" sz="1300" noProof="0" dirty="0"/>
          </a:p>
          <a:p>
            <a:pPr marL="0" indent="0">
              <a:buNone/>
            </a:pPr>
            <a:r>
              <a:rPr lang="es-CO" sz="1300" noProof="0" dirty="0">
                <a:solidFill>
                  <a:srgbClr val="E8DD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</a:t>
            </a:r>
            <a:r>
              <a:rPr lang="es-CO" sz="1300" noProof="0" dirty="0" err="1">
                <a:solidFill>
                  <a:srgbClr val="E8DD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infrastructure</a:t>
            </a:r>
            <a:r>
              <a:rPr lang="es-CO" sz="1300" noProof="0" dirty="0">
                <a:solidFill>
                  <a:srgbClr val="E8DD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   # Adaptadores (</a:t>
            </a:r>
            <a:r>
              <a:rPr lang="es-CO" sz="1300" noProof="0" dirty="0" err="1">
                <a:solidFill>
                  <a:srgbClr val="E8DD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FastAPI</a:t>
            </a:r>
            <a:r>
              <a:rPr lang="es-CO" sz="1300" noProof="0" dirty="0">
                <a:solidFill>
                  <a:srgbClr val="E8DD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Ollama, PDF)</a:t>
            </a:r>
            <a:endParaRPr lang="es-CO" sz="1300" noProof="0" dirty="0"/>
          </a:p>
          <a:p>
            <a:pPr marL="0" indent="0">
              <a:buNone/>
            </a:pPr>
            <a:r>
              <a:rPr lang="es-CO" sz="1300" noProof="0" dirty="0">
                <a:solidFill>
                  <a:srgbClr val="E8DD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factory.py        # Inyección de dependencias</a:t>
            </a:r>
            <a:endParaRPr lang="es-CO" sz="1300" noProof="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6A0F63-70E8-C062-EB44-14F16B50E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C57DC2E-3CDE-555A-608F-9BE5B6C52CD6}"/>
              </a:ext>
            </a:extLst>
          </p:cNvPr>
          <p:cNvSpPr/>
          <p:nvPr/>
        </p:nvSpPr>
        <p:spPr>
          <a:xfrm>
            <a:off x="640080" y="457200"/>
            <a:ext cx="3718560" cy="5260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3600" b="1" noProof="0" dirty="0">
                <a:solidFill>
                  <a:srgbClr val="2B20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DIAGRAMA </a:t>
            </a:r>
          </a:p>
          <a:p>
            <a:pPr marL="0" indent="0">
              <a:buNone/>
            </a:pPr>
            <a:r>
              <a:rPr lang="es-CO" sz="3600" b="1" noProof="0" dirty="0">
                <a:solidFill>
                  <a:srgbClr val="2B20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</a:t>
            </a:r>
          </a:p>
          <a:p>
            <a:pPr marL="0" indent="0">
              <a:buNone/>
            </a:pPr>
            <a:r>
              <a:rPr lang="es-CO" sz="3600" b="1" noProof="0" dirty="0">
                <a:solidFill>
                  <a:srgbClr val="2B20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</a:t>
            </a:r>
            <a:endParaRPr lang="es-CO" sz="3600" noProof="0" dirty="0"/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AD201100-4466-82AC-E1B8-1D66E6A68301}"/>
              </a:ext>
            </a:extLst>
          </p:cNvPr>
          <p:cNvSpPr/>
          <p:nvPr/>
        </p:nvSpPr>
        <p:spPr>
          <a:xfrm>
            <a:off x="4561968" y="650207"/>
            <a:ext cx="6989952" cy="5557585"/>
          </a:xfrm>
          <a:prstGeom prst="roundRect">
            <a:avLst>
              <a:gd name="adj" fmla="val 4000"/>
            </a:avLst>
          </a:prstGeom>
          <a:solidFill>
            <a:srgbClr val="6D2E46"/>
          </a:solidFill>
          <a:ln/>
        </p:spPr>
        <p:txBody>
          <a:bodyPr/>
          <a:lstStyle/>
          <a:p>
            <a:endParaRPr lang="es-CO" noProof="0" dirty="0"/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E79BA4DA-8AC8-F205-2B20-8F121101C6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6611" y="995422"/>
            <a:ext cx="4897338" cy="4867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3341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640F7B-7063-8436-788E-F324C2BF8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D61F62E-082A-5C85-FAD9-86FE209DCF68}"/>
              </a:ext>
            </a:extLst>
          </p:cNvPr>
          <p:cNvSpPr/>
          <p:nvPr/>
        </p:nvSpPr>
        <p:spPr>
          <a:xfrm>
            <a:off x="640080" y="457200"/>
            <a:ext cx="9615090" cy="816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3600" b="1" noProof="0" dirty="0">
                <a:solidFill>
                  <a:srgbClr val="2B20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DIAGRAMA DE FLUJO</a:t>
            </a:r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03394CAB-0658-FC9C-1F23-EF201184C1CD}"/>
              </a:ext>
            </a:extLst>
          </p:cNvPr>
          <p:cNvSpPr/>
          <p:nvPr/>
        </p:nvSpPr>
        <p:spPr>
          <a:xfrm>
            <a:off x="497711" y="1817513"/>
            <a:ext cx="10938462" cy="4390566"/>
          </a:xfrm>
          <a:prstGeom prst="roundRect">
            <a:avLst>
              <a:gd name="adj" fmla="val 4000"/>
            </a:avLst>
          </a:prstGeom>
          <a:solidFill>
            <a:srgbClr val="6D2E46"/>
          </a:solidFill>
          <a:ln/>
        </p:spPr>
        <p:txBody>
          <a:bodyPr/>
          <a:lstStyle/>
          <a:p>
            <a:endParaRPr lang="es-CO" noProof="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8E00B94-478A-9C5E-6524-95030447B5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7418" y="2152787"/>
            <a:ext cx="8287281" cy="3720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4278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34F3B5-CC98-737D-5AC4-228BD3593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20855C2-9982-5A38-3835-EC31B4083B6F}"/>
              </a:ext>
            </a:extLst>
          </p:cNvPr>
          <p:cNvSpPr/>
          <p:nvPr/>
        </p:nvSpPr>
        <p:spPr>
          <a:xfrm>
            <a:off x="640080" y="457200"/>
            <a:ext cx="9615090" cy="816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3600" b="1" noProof="0" dirty="0">
                <a:solidFill>
                  <a:srgbClr val="2B20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DIAGRAMA DE COMPONENTES</a:t>
            </a:r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EC25D8EB-A030-CCA3-46FF-7910EA7312C3}"/>
              </a:ext>
            </a:extLst>
          </p:cNvPr>
          <p:cNvSpPr/>
          <p:nvPr/>
        </p:nvSpPr>
        <p:spPr>
          <a:xfrm>
            <a:off x="497711" y="1909822"/>
            <a:ext cx="10938462" cy="3240913"/>
          </a:xfrm>
          <a:prstGeom prst="roundRect">
            <a:avLst>
              <a:gd name="adj" fmla="val 4000"/>
            </a:avLst>
          </a:prstGeom>
          <a:solidFill>
            <a:srgbClr val="6D2E46"/>
          </a:solidFill>
          <a:ln/>
        </p:spPr>
        <p:txBody>
          <a:bodyPr/>
          <a:lstStyle/>
          <a:p>
            <a:endParaRPr lang="es-CO" noProof="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41D9E84-BE1A-C226-6F6E-50826B719E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5610" y="2403963"/>
            <a:ext cx="9740779" cy="2445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47782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41C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657600"/>
            <a:ext cx="5486400" cy="5486400"/>
          </a:xfrm>
          <a:prstGeom prst="ellipse">
            <a:avLst/>
          </a:prstGeom>
          <a:solidFill>
            <a:srgbClr val="6D2E46">
              <a:alpha val="55000"/>
            </a:srgbClr>
          </a:solidFill>
          <a:ln/>
        </p:spPr>
        <p:txBody>
          <a:bodyPr/>
          <a:lstStyle/>
          <a:p>
            <a:endParaRPr lang="es-CO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228600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46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</a:t>
            </a:r>
            <a:endParaRPr lang="es-CO" sz="4600" noProof="0" dirty="0"/>
          </a:p>
        </p:txBody>
      </p:sp>
      <p:sp>
        <p:nvSpPr>
          <p:cNvPr id="4" name="Text 2"/>
          <p:cNvSpPr/>
          <p:nvPr/>
        </p:nvSpPr>
        <p:spPr>
          <a:xfrm>
            <a:off x="795528" y="3246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600" noProof="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S.A.R.A. — Sistema Autónomo de Remuneración Artística</a:t>
            </a:r>
            <a:endParaRPr lang="es-CO" sz="1600" noProof="0" dirty="0"/>
          </a:p>
        </p:txBody>
      </p:sp>
      <p:sp>
        <p:nvSpPr>
          <p:cNvPr id="5" name="Text 3"/>
          <p:cNvSpPr/>
          <p:nvPr/>
        </p:nvSpPr>
        <p:spPr>
          <a:xfrm>
            <a:off x="795528" y="3794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300" i="1" noProof="0" dirty="0">
                <a:solidFill>
                  <a:srgbClr val="C9A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github.com/nijamusa99/S.A.R.A-</a:t>
            </a:r>
            <a:endParaRPr lang="es-CO" sz="1300" noProof="0" dirty="0"/>
          </a:p>
        </p:txBody>
      </p:sp>
      <p:sp>
        <p:nvSpPr>
          <p:cNvPr id="6" name="Text 4"/>
          <p:cNvSpPr/>
          <p:nvPr/>
        </p:nvSpPr>
        <p:spPr>
          <a:xfrm>
            <a:off x="795528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200" noProof="0" dirty="0">
                <a:solidFill>
                  <a:srgbClr val="C9B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del proyecto: En desarrollo activo (MVP)</a:t>
            </a:r>
            <a:endParaRPr lang="es-CO" sz="1200" noProof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1036</Words>
  <Application>Microsoft Office PowerPoint</Application>
  <PresentationFormat>Panorámica</PresentationFormat>
  <Paragraphs>169</Paragraphs>
  <Slides>16</Slides>
  <Notes>16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1" baseType="lpstr">
      <vt:lpstr>Arial</vt:lpstr>
      <vt:lpstr>Calibri</vt:lpstr>
      <vt:lpstr>Cambria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S.A.R.A. - Sistema Autónomo de Remuneración Artística</dc:title>
  <dc:subject>PptxGenJS Presentation</dc:subject>
  <dc:creator>S.A.R.A.</dc:creator>
  <cp:lastModifiedBy>NICOLAS JAIR  MUÑOZ SANCHEZ - ESTUDIANTE</cp:lastModifiedBy>
  <cp:revision>2</cp:revision>
  <dcterms:created xsi:type="dcterms:W3CDTF">2026-07-07T19:21:15Z</dcterms:created>
  <dcterms:modified xsi:type="dcterms:W3CDTF">2026-07-07T20:04:17Z</dcterms:modified>
</cp:coreProperties>
</file>